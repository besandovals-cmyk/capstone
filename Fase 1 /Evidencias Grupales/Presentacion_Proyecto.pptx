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0682935" y="5349240"/>
            <a:ext cx="2103120" cy="21031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688775" y="4343400"/>
            <a:ext cx="1188720" cy="118872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-777240" y="-777240"/>
            <a:ext cx="1554480" cy="1554480"/>
          </a:xfrm>
          <a:prstGeom prst="rect">
            <a:avLst/>
          </a:prstGeom>
          <a:solidFill>
            <a:srgbClr val="D9A441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APT · CAPSTONE 002D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9875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Gestión de Inventario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Mantenimiento para Bomberos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San Bernardo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68680" y="4069080"/>
            <a:ext cx="2011680" cy="0"/>
          </a:xfrm>
          <a:prstGeom prst="line">
            <a:avLst/>
          </a:prstGeom>
          <a:noFill/>
          <a:ln w="31750">
            <a:solidFill>
              <a:srgbClr val="D9A4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343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4562856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Andrés Sandoval Robles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0" y="43434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0" y="4562856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Eliana Mallén González González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9103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512978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0" y="49103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512978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Bernardo</a:t>
            </a:r>
            <a:endParaRPr lang="en-US" sz="1400" dirty="0"/>
          </a:p>
        </p:txBody>
      </p:sp>
      <p:pic>
        <p:nvPicPr>
          <p:cNvPr id="16" name="Image 0" descr="assets/duocu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91072"/>
            <a:ext cx="105156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1688775" y="-502920"/>
            <a:ext cx="1371600" cy="1371600"/>
          </a:xfrm>
          <a:prstGeom prst="rect">
            <a:avLst/>
          </a:prstGeom>
          <a:solidFill>
            <a:srgbClr val="8A1D16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140135" y="502920"/>
            <a:ext cx="685800" cy="6858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AL PROYECTO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Modernizar la gestión de recursos institucionales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5486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Bomberos de San Bernardo administra equipos, vehículos y mantenimientos de forma manual y fragmentada. El proyecto propone un sistema digital individual que centraliza esta información para una mejor toma de decisiones.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3703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BEAE6"/>
          </a:solidFill>
          <a:ln/>
        </p:spPr>
      </p:sp>
      <p:pic>
        <p:nvPicPr>
          <p:cNvPr id="9" name="Image 0" descr="assets/icons/boxes_stacked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9476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51560" y="3703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de equipos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7200" y="432511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BEAE6"/>
          </a:solidFill>
          <a:ln/>
        </p:spPr>
      </p:sp>
      <p:pic>
        <p:nvPicPr>
          <p:cNvPr id="12" name="Image 1" descr="assets/icons/truck_fir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1655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51560" y="43251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de unidades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57200" y="49469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BEAE6"/>
          </a:solidFill>
          <a:ln/>
        </p:spPr>
      </p:sp>
      <p:pic>
        <p:nvPicPr>
          <p:cNvPr id="15" name="Image 2" descr="assets/icons/clock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3834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1560" y="494690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y disponibilidad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400800" y="1691640"/>
            <a:ext cx="5349240" cy="4343400"/>
          </a:xfrm>
          <a:prstGeom prst="roundRect">
            <a:avLst>
              <a:gd name="adj" fmla="val 1684"/>
            </a:avLst>
          </a:prstGeom>
          <a:solidFill>
            <a:srgbClr val="8A1D16"/>
          </a:solidFill>
          <a:ln/>
        </p:spPr>
      </p:sp>
      <p:pic>
        <p:nvPicPr>
          <p:cNvPr id="18" name="Image 3" descr="assets/icons/warehous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2148840"/>
            <a:ext cx="1325880" cy="13258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58000" y="3657600"/>
            <a:ext cx="4434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sistema para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la información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operativa de la unidad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6766560" y="4800600"/>
            <a:ext cx="4617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2D9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· Vehículos · Mantenimientos · Alertas · Reportes</a:t>
            </a:r>
            <a:endParaRPr lang="en-US" sz="1150" dirty="0"/>
          </a:p>
        </p:txBody>
      </p:sp>
      <p:pic>
        <p:nvPicPr>
          <p:cNvPr id="21" name="Image 4" descr="assets/duocuc_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1688775" y="-502920"/>
            <a:ext cx="1371600" cy="1371600"/>
          </a:xfrm>
          <a:prstGeom prst="rect">
            <a:avLst/>
          </a:prstGeom>
          <a:solidFill>
            <a:srgbClr val="8A1D16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140135" y="502920"/>
            <a:ext cx="685800" cy="6858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PROBLEMA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trazabilidad no hay control real de los recursos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BEAE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10312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8A1D16"/>
          </a:solidFill>
          <a:ln/>
        </p:spPr>
      </p:sp>
      <p:pic>
        <p:nvPicPr>
          <p:cNvPr id="9" name="Image 0" descr="assets/icons/triangle_exclaim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97180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de sistema centralizado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777240" y="3566160"/>
            <a:ext cx="47548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herramienta digital única para el control de equipos y flota; la información depende de métodos manuales y planillas fragmentadas.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26480" y="178308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BEAE6"/>
          </a:solidFill>
          <a:ln/>
        </p:spPr>
      </p:sp>
      <p:sp>
        <p:nvSpPr>
          <p:cNvPr id="13" name="Shape 10"/>
          <p:cNvSpPr/>
          <p:nvPr/>
        </p:nvSpPr>
        <p:spPr>
          <a:xfrm>
            <a:off x="6446520" y="210312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8A1D16"/>
          </a:solidFill>
          <a:ln/>
        </p:spPr>
      </p:sp>
      <p:pic>
        <p:nvPicPr>
          <p:cNvPr id="14" name="Image 1" descr="assets/icons/magnifying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28600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46520" y="297180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Dificultad en la trazabilidad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6446520" y="3566160"/>
            <a:ext cx="47548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datos organizados es difícil seguir en tiempo real el estado del equipamiento y anticipar mantenimientos preventivos.</a:t>
            </a:r>
            <a:endParaRPr lang="en-US" sz="1300" dirty="0"/>
          </a:p>
        </p:txBody>
      </p:sp>
      <p:pic>
        <p:nvPicPr>
          <p:cNvPr id="17" name="Image 2" descr="assets/duocuc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1688775" y="-502920"/>
            <a:ext cx="1371600" cy="1371600"/>
          </a:xfrm>
          <a:prstGeom prst="rect">
            <a:avLst/>
          </a:prstGeom>
          <a:solidFill>
            <a:srgbClr val="8A1D16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140135" y="502920"/>
            <a:ext cx="685800" cy="6858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PROYECTO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 y específicos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0835640" cy="1051560"/>
          </a:xfrm>
          <a:prstGeom prst="roundRect">
            <a:avLst>
              <a:gd name="adj" fmla="val 6957"/>
            </a:avLst>
          </a:prstGeom>
          <a:solidFill>
            <a:srgbClr val="8A1D16"/>
          </a:solidFill>
          <a:ln/>
        </p:spPr>
      </p:sp>
      <p:pic>
        <p:nvPicPr>
          <p:cNvPr id="8" name="Image 0" descr="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031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783080"/>
            <a:ext cx="9646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y desarrollar un sistema digital para gestionar el inventario y mantenimiento de equipos y unidades de Bomberos de San Bernardo.</a:t>
            </a:r>
            <a:endParaRPr lang="en-US" sz="1400" dirty="0"/>
          </a:p>
        </p:txBody>
      </p:sp>
      <p:pic>
        <p:nvPicPr>
          <p:cNvPr id="10" name="Image 1" descr="assets/icons/layer_group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24128" y="3154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los datos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24128" y="352044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 modelo que organice equipos, unidades y mantenimientos.</a:t>
            </a:r>
            <a:endParaRPr lang="en-US" sz="1200" dirty="0"/>
          </a:p>
        </p:txBody>
      </p:sp>
      <p:pic>
        <p:nvPicPr>
          <p:cNvPr id="13" name="Image 2" descr="assets/icons/laptop_cod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20040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154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la solución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510528" y="352044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Registrar, actualizar y consultar el inventario y sus mantenimientos.</a:t>
            </a:r>
            <a:endParaRPr lang="en-US" sz="1200" dirty="0"/>
          </a:p>
        </p:txBody>
      </p:sp>
      <p:pic>
        <p:nvPicPr>
          <p:cNvPr id="16" name="Image 3" descr="assets/icons/bell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617720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24128" y="4572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seguimiento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24128" y="49377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alertas para el control de mantenimientos programados.</a:t>
            </a:r>
            <a:endParaRPr lang="en-US" sz="1200" dirty="0"/>
          </a:p>
        </p:txBody>
      </p:sp>
      <p:pic>
        <p:nvPicPr>
          <p:cNvPr id="19" name="Image 4" descr="assets/icons/circle_chec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617720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510528" y="4572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resultados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510528" y="493776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la solución y mejorar a partir de los resultados obtenidos.</a:t>
            </a:r>
            <a:endParaRPr lang="en-US" sz="1200" dirty="0"/>
          </a:p>
        </p:txBody>
      </p:sp>
      <p:pic>
        <p:nvPicPr>
          <p:cNvPr id="22" name="Image 5" descr="assets/duocuc_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1688775" y="-502920"/>
            <a:ext cx="1371600" cy="1371600"/>
          </a:xfrm>
          <a:prstGeom prst="rect">
            <a:avLst/>
          </a:prstGeom>
          <a:solidFill>
            <a:srgbClr val="8A1D16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140135" y="502920"/>
            <a:ext cx="685800" cy="6858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 TRABAJO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Scrum para un avance individual y progresivo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0835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desarrollo individual se organiza en ciclos cortos (sprints), lo que permite avanzar de forma gradual, revisar resultados y ajustar prioridades durante todo el proyecto.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14600" cy="3063240"/>
          </a:xfrm>
          <a:prstGeom prst="roundRect">
            <a:avLst>
              <a:gd name="adj" fmla="val 2909"/>
            </a:avLst>
          </a:prstGeom>
          <a:solidFill>
            <a:srgbClr val="FBEAE6"/>
          </a:solidFill>
          <a:ln w="19050">
            <a:solidFill>
              <a:srgbClr val="FBEA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5880" y="3017520"/>
            <a:ext cx="777240" cy="777240"/>
          </a:xfrm>
          <a:prstGeom prst="ellipse">
            <a:avLst/>
          </a:prstGeom>
          <a:solidFill>
            <a:srgbClr val="8A1D16"/>
          </a:solidFill>
          <a:ln/>
        </p:spPr>
      </p:sp>
      <p:pic>
        <p:nvPicPr>
          <p:cNvPr id="10" name="Image 0" descr="assets/icons/magnifyin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317296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51460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94360" y="39776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Levantamiento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4370832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los requerimientos de la institución.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999232" y="3364992"/>
            <a:ext cx="219456" cy="5486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Shape 12"/>
          <p:cNvSpPr/>
          <p:nvPr/>
        </p:nvSpPr>
        <p:spPr>
          <a:xfrm>
            <a:off x="3200400" y="2743200"/>
            <a:ext cx="2514600" cy="3063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FBEA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69080" y="3017520"/>
            <a:ext cx="777240" cy="777240"/>
          </a:xfrm>
          <a:prstGeom prst="ellipse">
            <a:avLst/>
          </a:prstGeom>
          <a:solidFill>
            <a:srgbClr val="8A1D16"/>
          </a:solidFill>
          <a:ln/>
        </p:spPr>
      </p:sp>
      <p:pic>
        <p:nvPicPr>
          <p:cNvPr id="17" name="Image 1" descr="assets/icons/clipboard_check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317296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25780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3337560" y="39776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383280" y="4370832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Priorización de funcionalidades críticas.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742432" y="3364992"/>
            <a:ext cx="219456" cy="5486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2" name="Shape 18"/>
          <p:cNvSpPr/>
          <p:nvPr/>
        </p:nvSpPr>
        <p:spPr>
          <a:xfrm>
            <a:off x="5943600" y="2743200"/>
            <a:ext cx="2514600" cy="3063240"/>
          </a:xfrm>
          <a:prstGeom prst="roundRect">
            <a:avLst>
              <a:gd name="adj" fmla="val 2909"/>
            </a:avLst>
          </a:prstGeom>
          <a:solidFill>
            <a:srgbClr val="FBEAE6"/>
          </a:solidFill>
          <a:ln w="19050">
            <a:solidFill>
              <a:srgbClr val="FBEA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812280" y="3017520"/>
            <a:ext cx="777240" cy="777240"/>
          </a:xfrm>
          <a:prstGeom prst="ellipse">
            <a:avLst/>
          </a:prstGeom>
          <a:solidFill>
            <a:srgbClr val="8A1D16"/>
          </a:solidFill>
          <a:ln/>
        </p:spPr>
      </p:sp>
      <p:pic>
        <p:nvPicPr>
          <p:cNvPr id="24" name="Image 2" descr="assets/icons/gear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3172968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00100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6080760" y="39776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26480" y="4370832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de los módulos del sistema.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485632" y="3364992"/>
            <a:ext cx="219456" cy="5486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2743200"/>
            <a:ext cx="2514600" cy="30632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FBEAE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555480" y="3017520"/>
            <a:ext cx="777240" cy="777240"/>
          </a:xfrm>
          <a:prstGeom prst="ellipse">
            <a:avLst/>
          </a:prstGeom>
          <a:solidFill>
            <a:srgbClr val="8A1D16"/>
          </a:solidFill>
          <a:ln/>
        </p:spPr>
      </p:sp>
      <p:pic>
        <p:nvPicPr>
          <p:cNvPr id="31" name="Image 3" descr="assets/icons/flas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28" y="3172968"/>
            <a:ext cx="457200" cy="45720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0744200" y="2788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8823960" y="39776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8869680" y="4370832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calidad y correcciones.</a:t>
            </a:r>
            <a:endParaRPr lang="en-US" sz="1100" dirty="0"/>
          </a:p>
        </p:txBody>
      </p:sp>
      <p:pic>
        <p:nvPicPr>
          <p:cNvPr id="35" name="Image 4" descr="assets/duocuc_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1688775" y="-502920"/>
            <a:ext cx="1371600" cy="1371600"/>
          </a:xfrm>
          <a:prstGeom prst="rect">
            <a:avLst/>
          </a:prstGeom>
          <a:solidFill>
            <a:srgbClr val="8A1D16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140135" y="502920"/>
            <a:ext cx="685800" cy="6858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PLANIFICACIÓN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trabajo: 10 semanas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417320" y="3520440"/>
            <a:ext cx="9372600" cy="0"/>
          </a:xfrm>
          <a:prstGeom prst="line">
            <a:avLst/>
          </a:prstGeom>
          <a:noFill/>
          <a:ln w="50800">
            <a:solidFill>
              <a:srgbClr val="FBEA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98448" y="3401568"/>
            <a:ext cx="237744" cy="237744"/>
          </a:xfrm>
          <a:prstGeom prst="ellipse">
            <a:avLst/>
          </a:prstGeom>
          <a:solidFill>
            <a:srgbClr val="8A1D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17320" y="2697480"/>
            <a:ext cx="0" cy="704088"/>
          </a:xfrm>
          <a:prstGeom prst="line">
            <a:avLst/>
          </a:prstGeom>
          <a:noFill/>
          <a:ln w="19050">
            <a:solidFill>
              <a:srgbClr val="FBEA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74320" y="1874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3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1-2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2212848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requerimientos y diseño inicial.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41598" y="3401568"/>
            <a:ext cx="237744" cy="237744"/>
          </a:xfrm>
          <a:prstGeom prst="ellipse">
            <a:avLst/>
          </a:prstGeom>
          <a:solidFill>
            <a:srgbClr val="8A1D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60470" y="3639312"/>
            <a:ext cx="0" cy="502920"/>
          </a:xfrm>
          <a:prstGeom prst="line">
            <a:avLst/>
          </a:prstGeom>
          <a:noFill/>
          <a:ln w="19050">
            <a:solidFill>
              <a:srgbClr val="FBEAE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2617470" y="4160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3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3-4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17470" y="4498848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la base de datos y arquitectura.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4748" y="3401568"/>
            <a:ext cx="237744" cy="237744"/>
          </a:xfrm>
          <a:prstGeom prst="ellipse">
            <a:avLst/>
          </a:prstGeom>
          <a:solidFill>
            <a:srgbClr val="8A1D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03620" y="2697480"/>
            <a:ext cx="0" cy="704088"/>
          </a:xfrm>
          <a:prstGeom prst="line">
            <a:avLst/>
          </a:prstGeom>
          <a:noFill/>
          <a:ln w="19050">
            <a:solidFill>
              <a:srgbClr val="FBEAE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960620" y="1874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3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5-6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60620" y="2212848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del módulo de inventario y unidades.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27898" y="3401568"/>
            <a:ext cx="237744" cy="237744"/>
          </a:xfrm>
          <a:prstGeom prst="ellipse">
            <a:avLst/>
          </a:prstGeom>
          <a:solidFill>
            <a:srgbClr val="8A1D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6770" y="3639312"/>
            <a:ext cx="0" cy="502920"/>
          </a:xfrm>
          <a:prstGeom prst="line">
            <a:avLst/>
          </a:prstGeom>
          <a:noFill/>
          <a:ln w="19050">
            <a:solidFill>
              <a:srgbClr val="FBEAE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303770" y="4160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3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7-8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03770" y="4498848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mantenimiento, alertas y reportes.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671048" y="3401568"/>
            <a:ext cx="237744" cy="237744"/>
          </a:xfrm>
          <a:prstGeom prst="ellipse">
            <a:avLst/>
          </a:prstGeom>
          <a:solidFill>
            <a:srgbClr val="8A1D1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789920" y="2697480"/>
            <a:ext cx="0" cy="704088"/>
          </a:xfrm>
          <a:prstGeom prst="line">
            <a:avLst/>
          </a:prstGeom>
          <a:noFill/>
          <a:ln w="19050">
            <a:solidFill>
              <a:srgbClr val="FBEAE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646920" y="1874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3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9-10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646920" y="2212848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Pruebas, correcciones y entrega final.</a:t>
            </a:r>
            <a:endParaRPr lang="en-US" sz="1100" dirty="0"/>
          </a:p>
        </p:txBody>
      </p:sp>
      <p:pic>
        <p:nvPicPr>
          <p:cNvPr id="28" name="Image 0" descr="assets/duocu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8A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1688775" y="-502920"/>
            <a:ext cx="1371600" cy="1371600"/>
          </a:xfrm>
          <a:prstGeom prst="rect">
            <a:avLst/>
          </a:prstGeom>
          <a:solidFill>
            <a:srgbClr val="8A1D16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140135" y="502920"/>
            <a:ext cx="685800" cy="6858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0C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SOLUCIÓN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Digital Centralizado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5D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que almacena la información crítica de equipos y vehículos con acceso ordenado y actualizado, incorporando alertas y reportes que facilitan el control de los mantenimientos preventivos.</a:t>
            </a:r>
            <a:endParaRPr lang="en-US" sz="1450" dirty="0"/>
          </a:p>
        </p:txBody>
      </p:sp>
      <p:pic>
        <p:nvPicPr>
          <p:cNvPr id="8" name="Image 0" descr="assets/icons/databas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88620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3840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estructurada de equipos y unidades</a:t>
            </a:r>
            <a:endParaRPr lang="en-US" sz="1300" dirty="0"/>
          </a:p>
        </p:txBody>
      </p:sp>
      <p:pic>
        <p:nvPicPr>
          <p:cNvPr id="10" name="Image 1" descr="assets/icons/bell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805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4434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tempranas de mantenimiento</a:t>
            </a:r>
            <a:endParaRPr lang="en-US" sz="1300" dirty="0"/>
          </a:p>
        </p:txBody>
      </p:sp>
      <p:pic>
        <p:nvPicPr>
          <p:cNvPr id="12" name="Image 2" descr="assets/icons/chart_line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07492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05840" y="5029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para apoyar la toma de decisiones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949440" y="1737360"/>
            <a:ext cx="4800600" cy="4343400"/>
          </a:xfrm>
          <a:prstGeom prst="roundRect">
            <a:avLst>
              <a:gd name="adj" fmla="val 168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5" name="Image 3" descr="assets/icons/server_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194560"/>
            <a:ext cx="1234440" cy="12344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315200" y="3657600"/>
            <a:ext cx="4069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 ordenado,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siempre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actualizada</a:t>
            </a:r>
            <a:endParaRPr lang="en-US" sz="1700" dirty="0"/>
          </a:p>
        </p:txBody>
      </p:sp>
      <p:pic>
        <p:nvPicPr>
          <p:cNvPr id="17" name="Image 4" descr="assets/duocuc_logo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1688775" y="-502920"/>
            <a:ext cx="1371600" cy="1371600"/>
          </a:xfrm>
          <a:prstGeom prst="rect">
            <a:avLst/>
          </a:prstGeom>
          <a:solidFill>
            <a:srgbClr val="8A1D16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140135" y="502920"/>
            <a:ext cx="685800" cy="6858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Y ENTREGABLES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entregará en cada etapa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BEAE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057400"/>
            <a:ext cx="594360" cy="594360"/>
          </a:xfrm>
          <a:prstGeom prst="roundRect">
            <a:avLst>
              <a:gd name="adj" fmla="val 21538"/>
            </a:avLst>
          </a:prstGeom>
          <a:solidFill>
            <a:srgbClr val="8A1D16"/>
          </a:solidFill>
          <a:ln/>
        </p:spPr>
      </p:sp>
      <p:pic>
        <p:nvPicPr>
          <p:cNvPr id="9" name="Image 0" descr="assets/icons/layer_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21284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0116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datos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274320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relacional (MER) y diagramas de la arquitectura del sistema.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943600" y="178308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BEAE6"/>
          </a:solidFill>
          <a:ln/>
        </p:spPr>
      </p:sp>
      <p:sp>
        <p:nvSpPr>
          <p:cNvPr id="13" name="Shape 10"/>
          <p:cNvSpPr/>
          <p:nvPr/>
        </p:nvSpPr>
        <p:spPr>
          <a:xfrm>
            <a:off x="6217920" y="2057400"/>
            <a:ext cx="594360" cy="594360"/>
          </a:xfrm>
          <a:prstGeom prst="roundRect">
            <a:avLst>
              <a:gd name="adj" fmla="val 21538"/>
            </a:avLst>
          </a:prstGeom>
          <a:solidFill>
            <a:srgbClr val="8A1D16"/>
          </a:solidFill>
          <a:ln/>
        </p:spPr>
      </p:sp>
      <p:pic>
        <p:nvPicPr>
          <p:cNvPr id="14" name="Image 1" descr="assets/icons/file_line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2212848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949440" y="20116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Prototipos (mockups)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217920" y="274320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visual de las pantallas principales antes de programar.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57200" y="393192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BEAE6"/>
          </a:solidFill>
          <a:ln/>
        </p:spPr>
      </p:sp>
      <p:sp>
        <p:nvSpPr>
          <p:cNvPr id="18" name="Shape 14"/>
          <p:cNvSpPr/>
          <p:nvPr/>
        </p:nvSpPr>
        <p:spPr>
          <a:xfrm>
            <a:off x="731520" y="4206240"/>
            <a:ext cx="594360" cy="594360"/>
          </a:xfrm>
          <a:prstGeom prst="roundRect">
            <a:avLst>
              <a:gd name="adj" fmla="val 21538"/>
            </a:avLst>
          </a:prstGeom>
          <a:solidFill>
            <a:srgbClr val="8A1D16"/>
          </a:solidFill>
          <a:ln/>
        </p:spPr>
      </p:sp>
      <p:pic>
        <p:nvPicPr>
          <p:cNvPr id="19" name="Image 2" descr="assets/icons/laptop_cod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361688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63040" y="41605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funcional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731520" y="489204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 inventario y mantenimiento operativos por sprint.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943600" y="393192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BEAE6"/>
          </a:solidFill>
          <a:ln/>
        </p:spPr>
      </p:sp>
      <p:sp>
        <p:nvSpPr>
          <p:cNvPr id="23" name="Shape 18"/>
          <p:cNvSpPr/>
          <p:nvPr/>
        </p:nvSpPr>
        <p:spPr>
          <a:xfrm>
            <a:off x="6217920" y="4206240"/>
            <a:ext cx="594360" cy="594360"/>
          </a:xfrm>
          <a:prstGeom prst="roundRect">
            <a:avLst>
              <a:gd name="adj" fmla="val 21538"/>
            </a:avLst>
          </a:prstGeom>
          <a:solidFill>
            <a:srgbClr val="8A1D16"/>
          </a:solidFill>
          <a:ln/>
        </p:spPr>
      </p:sp>
      <p:pic>
        <p:nvPicPr>
          <p:cNvPr id="24" name="Image 3" descr="assets/icons/clipboard_chec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4361688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949440" y="41605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documentación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217920" y="489204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ejecutados y documentación técnica final.</a:t>
            </a:r>
            <a:endParaRPr lang="en-US" sz="1150" dirty="0"/>
          </a:p>
        </p:txBody>
      </p:sp>
      <p:pic>
        <p:nvPicPr>
          <p:cNvPr id="27" name="Image 4" descr="assets/duocuc_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1688775" y="-502920"/>
            <a:ext cx="1371600" cy="1371600"/>
          </a:xfrm>
          <a:prstGeom prst="rect">
            <a:avLst/>
          </a:prstGeom>
          <a:solidFill>
            <a:srgbClr val="8A1D16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140135" y="502920"/>
            <a:ext cx="685800" cy="6858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ESPERADOS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Beneficios de contar con un sistema centralizado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3474720" cy="38404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FBEA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37360" y="2194560"/>
            <a:ext cx="914400" cy="914400"/>
          </a:xfrm>
          <a:prstGeom prst="ellipse">
            <a:avLst/>
          </a:prstGeom>
          <a:solidFill>
            <a:srgbClr val="8A1D16"/>
          </a:solidFill>
          <a:ln/>
        </p:spPr>
      </p:sp>
      <p:pic>
        <p:nvPicPr>
          <p:cNvPr id="9" name="Image 0" descr="assets/icons/boxes_stacke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4231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22402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D9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85800" y="3337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Centralización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777240" y="3840480"/>
            <a:ext cx="2834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información institucional en una sola fuente segura y accesible.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60520" y="1874520"/>
            <a:ext cx="3474720" cy="38404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FBEA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40680" y="2194560"/>
            <a:ext cx="914400" cy="914400"/>
          </a:xfrm>
          <a:prstGeom prst="ellipse">
            <a:avLst/>
          </a:prstGeom>
          <a:solidFill>
            <a:srgbClr val="8A1D16"/>
          </a:solidFill>
          <a:ln/>
        </p:spPr>
      </p:sp>
      <p:pic>
        <p:nvPicPr>
          <p:cNvPr id="15" name="Image 1" descr="assets/icons/rotat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42316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389120" y="22402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D9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389120" y="3337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total</a:t>
            </a:r>
            <a:endParaRPr lang="en-US" sz="1550" dirty="0"/>
          </a:p>
        </p:txBody>
      </p:sp>
      <p:sp>
        <p:nvSpPr>
          <p:cNvPr id="18" name="Text 14"/>
          <p:cNvSpPr/>
          <p:nvPr/>
        </p:nvSpPr>
        <p:spPr>
          <a:xfrm>
            <a:off x="4480560" y="3840480"/>
            <a:ext cx="2834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claro de mantenimientos, alargando la vida útil de las unidades.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863840" y="1874520"/>
            <a:ext cx="3474720" cy="38404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FBEA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144000" y="2194560"/>
            <a:ext cx="914400" cy="914400"/>
          </a:xfrm>
          <a:prstGeom prst="ellipse">
            <a:avLst/>
          </a:prstGeom>
          <a:solidFill>
            <a:srgbClr val="8A1D16"/>
          </a:solidFill>
          <a:ln/>
        </p:spPr>
      </p:sp>
      <p:pic>
        <p:nvPicPr>
          <p:cNvPr id="21" name="Image 2" descr="assets/icons/arrow_trend_up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4231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092440" y="22402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D9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8092440" y="3337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8A1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eficiencia</a:t>
            </a:r>
            <a:endParaRPr lang="en-US" sz="1550" dirty="0"/>
          </a:p>
        </p:txBody>
      </p:sp>
      <p:sp>
        <p:nvSpPr>
          <p:cNvPr id="24" name="Text 19"/>
          <p:cNvSpPr/>
          <p:nvPr/>
        </p:nvSpPr>
        <p:spPr>
          <a:xfrm>
            <a:off x="8183880" y="3840480"/>
            <a:ext cx="2834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planificación para mantener equipos y vehículos siempre operativos.</a:t>
            </a:r>
            <a:endParaRPr lang="en-US" sz="1200" dirty="0"/>
          </a:p>
        </p:txBody>
      </p:sp>
      <p:pic>
        <p:nvPicPr>
          <p:cNvPr id="25" name="Image 3" descr="assets/duocuc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A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0682935" y="5349240"/>
            <a:ext cx="2103120" cy="21031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688775" y="4343400"/>
            <a:ext cx="1188720" cy="118872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-777240" y="-777240"/>
            <a:ext cx="1554480" cy="1554480"/>
          </a:xfrm>
          <a:prstGeom prst="rect">
            <a:avLst/>
          </a:prstGeom>
          <a:solidFill>
            <a:srgbClr val="D9A441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0C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200" dirty="0"/>
          </a:p>
        </p:txBody>
      </p:sp>
      <p:pic>
        <p:nvPicPr>
          <p:cNvPr id="7" name="Image 0" descr="assets/icons/quot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42316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Definir un alcance acotado y realista demuestra que una solución desarrollada de manera individual puede responder directamente a una necesidad institucional real, aportando control y eficiencia a los recursos de Bomberos de San Bernardo.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1371600" cy="0"/>
          </a:xfrm>
          <a:prstGeom prst="line">
            <a:avLst/>
          </a:prstGeom>
          <a:noFill/>
          <a:ln w="31750">
            <a:solidFill>
              <a:srgbClr val="D9A44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846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C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del Proyecto APT</a:t>
            </a:r>
            <a:endParaRPr lang="en-US" sz="1250" dirty="0"/>
          </a:p>
        </p:txBody>
      </p:sp>
      <p:pic>
        <p:nvPicPr>
          <p:cNvPr id="11" name="Image 1" descr="assets/duocuc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1688775" y="-502920"/>
            <a:ext cx="1371600" cy="1371600"/>
          </a:xfrm>
          <a:prstGeom prst="rect">
            <a:avLst/>
          </a:prstGeom>
          <a:solidFill>
            <a:srgbClr val="8A1D16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140135" y="502920"/>
            <a:ext cx="685800" cy="6858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PERSONAL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8A1D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Aplicar el perfil de egreso en un desafío individual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594360" cy="594360"/>
          </a:xfrm>
          <a:prstGeom prst="roundRect">
            <a:avLst>
              <a:gd name="adj" fmla="val 21538"/>
            </a:avLst>
          </a:prstGeom>
          <a:solidFill>
            <a:srgbClr val="FBEAE6"/>
          </a:solidFill>
          <a:ln/>
        </p:spPr>
      </p:sp>
      <p:pic>
        <p:nvPicPr>
          <p:cNvPr id="8" name="Image 0" descr="assets/icons/bullsey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20299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801368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límites claros de alcance y objetivos precisos fue clave para hacer viable el proyecto en solitario.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291840"/>
            <a:ext cx="594360" cy="594360"/>
          </a:xfrm>
          <a:prstGeom prst="roundRect">
            <a:avLst>
              <a:gd name="adj" fmla="val 21538"/>
            </a:avLst>
          </a:prstGeom>
          <a:solidFill>
            <a:srgbClr val="FBEAE6"/>
          </a:solidFill>
          <a:ln/>
        </p:spPr>
      </p:sp>
      <p:pic>
        <p:nvPicPr>
          <p:cNvPr id="11" name="Image 1" descr="assets/icons/users_gear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44728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3218688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principal desafío será la autogestión del tiempo y la priorización de funcionalidades críticas.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57200" y="4709160"/>
            <a:ext cx="594360" cy="594360"/>
          </a:xfrm>
          <a:prstGeom prst="roundRect">
            <a:avLst>
              <a:gd name="adj" fmla="val 21538"/>
            </a:avLst>
          </a:prstGeom>
          <a:solidFill>
            <a:srgbClr val="FBEAE6"/>
          </a:solidFill>
          <a:ln/>
        </p:spPr>
      </p:sp>
      <p:pic>
        <p:nvPicPr>
          <p:cNvPr id="14" name="Image 2" descr="assets/icons/graduation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486460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4636008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oportunidad para consolidar mis fortalezas en bases de datos y programación, y fortalecer mi gestión de proyectos.</a:t>
            </a:r>
            <a:endParaRPr lang="en-US" sz="1400" dirty="0"/>
          </a:p>
        </p:txBody>
      </p:sp>
      <p:pic>
        <p:nvPicPr>
          <p:cNvPr id="16" name="Image 3" descr="assets/duocuc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6400800"/>
            <a:ext cx="914400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551615" y="64008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A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10682935" y="5349240"/>
            <a:ext cx="2103120" cy="21031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1688775" y="4343400"/>
            <a:ext cx="1188720" cy="118872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-777240" y="-777240"/>
            <a:ext cx="1554480" cy="1554480"/>
          </a:xfrm>
          <a:prstGeom prst="rect">
            <a:avLst/>
          </a:prstGeom>
          <a:solidFill>
            <a:srgbClr val="D9A441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6517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¿Preguntas?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6868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D9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gracias por su tiempo y atención.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4251960"/>
            <a:ext cx="1371600" cy="0"/>
          </a:xfrm>
          <a:prstGeom prst="line">
            <a:avLst/>
          </a:prstGeom>
          <a:noFill/>
          <a:ln w="31750">
            <a:solidFill>
              <a:srgbClr val="D9A4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389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Andrés Sandoval Robles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469087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C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 · Duoc UC San Bernardo</a:t>
            </a:r>
            <a:endParaRPr lang="en-US" sz="1150" dirty="0"/>
          </a:p>
        </p:txBody>
      </p:sp>
      <p:pic>
        <p:nvPicPr>
          <p:cNvPr id="10" name="Image 0" descr="assets/duocu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91072"/>
            <a:ext cx="1051560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2026-09-03T07:25:45Z</dcterms:created>
  <dcterms:modified xsi:type="dcterms:W3CDTF">2026-09-03T07:25:45Z</dcterms:modified>
</cp:coreProperties>
</file>
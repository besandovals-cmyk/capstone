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Calibri (MS) Bold" charset="1" panose="020F0702030404030204"/>
      <p:regular r:id="rId21"/>
    </p:embeddedFont>
    <p:embeddedFont>
      <p:font typeface="Cambria Bold" charset="1" panose="02040803050406030204"/>
      <p:regular r:id="rId22"/>
    </p:embeddedFont>
    <p:embeddedFont>
      <p:font typeface="Calibri (MS)" charset="1" panose="020F0502020204030204"/>
      <p:regular r:id="rId23"/>
    </p:embeddedFont>
    <p:embeddedFont>
      <p:font typeface="Calibri (MS) Italics" charset="1" panose="020F05020202040A0204"/>
      <p:regular r:id="rId25"/>
    </p:embeddedFont>
    <p:embeddedFont>
      <p:font typeface="Cambria Italics" charset="1" panose="020405030504060A02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fonts/font25.fntdata" Type="http://schemas.openxmlformats.org/officeDocument/2006/relationships/font"/><Relationship Id="rId26" Target="notesSlides/notesSlide3.xml" Type="http://schemas.openxmlformats.org/officeDocument/2006/relationships/notesSlide"/><Relationship Id="rId27" Target="notesSlides/notesSlide4.xml" Type="http://schemas.openxmlformats.org/officeDocument/2006/relationships/notesSlide"/><Relationship Id="rId28" Target="notesSlides/notesSlide5.xml" Type="http://schemas.openxmlformats.org/officeDocument/2006/relationships/notesSlide"/><Relationship Id="rId29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7.xml" Type="http://schemas.openxmlformats.org/officeDocument/2006/relationships/notesSlide"/><Relationship Id="rId31" Target="notesSlides/notesSlide8.xml" Type="http://schemas.openxmlformats.org/officeDocument/2006/relationships/notesSlide"/><Relationship Id="rId32" Target="notesSlides/notesSlide9.xml" Type="http://schemas.openxmlformats.org/officeDocument/2006/relationships/notesSlide"/><Relationship Id="rId33" Target="notesSlides/notesSlide10.xml" Type="http://schemas.openxmlformats.org/officeDocument/2006/relationships/notesSlide"/><Relationship Id="rId34" Target="fonts/font34.fntdata" Type="http://schemas.openxmlformats.org/officeDocument/2006/relationships/font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8.png" Type="http://schemas.openxmlformats.org/officeDocument/2006/relationships/image"/><Relationship Id="rId4" Target="../media/image1.jpeg" Type="http://schemas.openxmlformats.org/officeDocument/2006/relationships/image"/><Relationship Id="rId5" Target="../media/image9.png" Type="http://schemas.openxmlformats.org/officeDocument/2006/relationships/image"/><Relationship Id="rId6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0.png" Type="http://schemas.openxmlformats.org/officeDocument/2006/relationships/image"/><Relationship Id="rId4" Target="../media/image1.jpeg" Type="http://schemas.openxmlformats.org/officeDocument/2006/relationships/image"/><Relationship Id="rId5" Target="../media/image11.pn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Relationship Id="rId8" Target="../media/image14.png" Type="http://schemas.openxmlformats.org/officeDocument/2006/relationships/image"/><Relationship Id="rId9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5.png" Type="http://schemas.openxmlformats.org/officeDocument/2006/relationships/image"/><Relationship Id="rId4" Target="../media/image1.jpeg" Type="http://schemas.openxmlformats.org/officeDocument/2006/relationships/image"/><Relationship Id="rId5" Target="../media/image16.png" Type="http://schemas.openxmlformats.org/officeDocument/2006/relationships/image"/><Relationship Id="rId6" Target="../media/image17.png" Type="http://schemas.openxmlformats.org/officeDocument/2006/relationships/image"/><Relationship Id="rId7" Target="../media/image18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Relationship Id="rId7" Target="../media/image21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.pn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22.png" Type="http://schemas.openxmlformats.org/officeDocument/2006/relationships/image"/><Relationship Id="rId5" Target="../media/image23.png" Type="http://schemas.openxmlformats.org/officeDocument/2006/relationships/image"/><Relationship Id="rId6" Target="../media/image24.png" Type="http://schemas.openxmlformats.org/officeDocument/2006/relationships/image"/><Relationship Id="rId7" Target="../media/image3.png" Type="http://schemas.openxmlformats.org/officeDocument/2006/relationships/image"/><Relationship Id="rId8" Target="../media/image25.pn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7.png" Type="http://schemas.openxmlformats.org/officeDocument/2006/relationships/image"/><Relationship Id="rId4" Target="../media/image1.jpeg" Type="http://schemas.openxmlformats.org/officeDocument/2006/relationships/image"/><Relationship Id="rId5" Target="../media/image28.png" Type="http://schemas.openxmlformats.org/officeDocument/2006/relationships/image"/><Relationship Id="rId6" Target="../media/image29.png" Type="http://schemas.openxmlformats.org/officeDocument/2006/relationships/image"/><Relationship Id="rId7" Target="../media/image19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30.png" Type="http://schemas.openxmlformats.org/officeDocument/2006/relationships/image"/><Relationship Id="rId4" Target="../media/image1.jpe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31.png" Type="http://schemas.openxmlformats.org/officeDocument/2006/relationships/image"/><Relationship Id="rId4" Target="../media/image1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6024403" y="8023860"/>
            <a:ext cx="3154680" cy="3154680"/>
            <a:chOff x="0" y="0"/>
            <a:chExt cx="4206240" cy="42062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06240" cy="4206240"/>
            </a:xfrm>
            <a:custGeom>
              <a:avLst/>
              <a:gdLst/>
              <a:ahLst/>
              <a:cxnLst/>
              <a:rect r="r" b="b" t="t" l="l"/>
              <a:pathLst>
                <a:path h="420624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7533163" y="6515100"/>
            <a:ext cx="1783080" cy="1783080"/>
            <a:chOff x="0" y="0"/>
            <a:chExt cx="2377440" cy="23774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77440" cy="2377440"/>
            </a:xfrm>
            <a:custGeom>
              <a:avLst/>
              <a:gdLst/>
              <a:ahLst/>
              <a:cxnLst/>
              <a:rect r="r" b="b" t="t" l="l"/>
              <a:pathLst>
                <a:path h="237744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FFFFFF">
                <a:alpha val="117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2700000">
            <a:off x="-1165860" y="-1165860"/>
            <a:ext cx="2331720" cy="2331720"/>
            <a:chOff x="0" y="0"/>
            <a:chExt cx="3108960" cy="31089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08960" cy="3108960"/>
            </a:xfrm>
            <a:custGeom>
              <a:avLst/>
              <a:gdLst/>
              <a:ahLst/>
              <a:cxnLst/>
              <a:rect r="r" b="b" t="t" l="l"/>
              <a:pathLst>
                <a:path h="310896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108960"/>
                  </a:lnTo>
                  <a:lnTo>
                    <a:pt x="0" y="3108960"/>
                  </a:lnTo>
                  <a:close/>
                </a:path>
              </a:pathLst>
            </a:custGeom>
            <a:solidFill>
              <a:srgbClr val="D9A441">
                <a:alpha val="2000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34440" y="2125980"/>
            <a:ext cx="12344400" cy="548640"/>
            <a:chOff x="0" y="0"/>
            <a:chExt cx="16459200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459200" cy="731520"/>
            </a:xfrm>
            <a:custGeom>
              <a:avLst/>
              <a:gdLst/>
              <a:ahLst/>
              <a:cxnLst/>
              <a:rect r="r" b="b" t="t" l="l"/>
              <a:pathLst>
                <a:path h="73152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64592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449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PROYECTO APT · CAPSTONE 002D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34440" y="2743200"/>
            <a:ext cx="14813280" cy="3154680"/>
            <a:chOff x="0" y="0"/>
            <a:chExt cx="19751040" cy="42062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751039" cy="4206240"/>
            </a:xfrm>
            <a:custGeom>
              <a:avLst/>
              <a:gdLst/>
              <a:ahLst/>
              <a:cxnLst/>
              <a:rect r="r" b="b" t="t" l="l"/>
              <a:pathLst>
                <a:path h="420624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4206240"/>
                  </a:lnTo>
                  <a:lnTo>
                    <a:pt x="0" y="4206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494" r="0" b="-4149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9751040" cy="4244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559"/>
                </a:lnSpc>
              </a:pPr>
              <a:r>
                <a:rPr lang="en-US" sz="6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Sistema de Gestión de Inventario</a:t>
              </a:r>
            </a:p>
            <a:p>
              <a:pPr algn="l">
                <a:lnSpc>
                  <a:spcPts val="7559"/>
                </a:lnSpc>
              </a:pPr>
              <a:r>
                <a:rPr lang="en-US" sz="6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y Mantenimiento para Bomberos</a:t>
              </a:r>
            </a:p>
            <a:p>
              <a:pPr algn="l">
                <a:lnSpc>
                  <a:spcPts val="7559"/>
                </a:lnSpc>
              </a:pPr>
              <a:r>
                <a:rPr lang="en-US" sz="6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 San Bernardo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 rot="53400">
            <a:off x="1279027" y="6089332"/>
            <a:ext cx="3065516" cy="0"/>
          </a:xfrm>
          <a:prstGeom prst="line">
            <a:avLst/>
          </a:prstGeom>
          <a:ln cap="rnd" w="28575">
            <a:solidFill>
              <a:srgbClr val="D9A44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1234440" y="6515100"/>
            <a:ext cx="3291840" cy="411480"/>
            <a:chOff x="0" y="0"/>
            <a:chExt cx="43891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389120" cy="548640"/>
            </a:xfrm>
            <a:custGeom>
              <a:avLst/>
              <a:gdLst/>
              <a:ahLst/>
              <a:cxnLst/>
              <a:rect r="r" b="b" t="t" l="l"/>
              <a:pathLst>
                <a:path h="5486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3891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ESTUDIANTE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34440" y="6844284"/>
            <a:ext cx="7269480" cy="480060"/>
            <a:chOff x="0" y="0"/>
            <a:chExt cx="9692640" cy="640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969264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Benjamín Andrés Sandoval Robles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915400" y="6515100"/>
            <a:ext cx="3291840" cy="411480"/>
            <a:chOff x="0" y="0"/>
            <a:chExt cx="43891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389120" cy="548640"/>
            </a:xfrm>
            <a:custGeom>
              <a:avLst/>
              <a:gdLst/>
              <a:ahLst/>
              <a:cxnLst/>
              <a:rect r="r" b="b" t="t" l="l"/>
              <a:pathLst>
                <a:path h="5486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43891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DOCENTE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915400" y="6844284"/>
            <a:ext cx="7269480" cy="480060"/>
            <a:chOff x="0" y="0"/>
            <a:chExt cx="9692640" cy="6400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969264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Mallén González González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34440" y="7365492"/>
            <a:ext cx="3291840" cy="411480"/>
            <a:chOff x="0" y="0"/>
            <a:chExt cx="4389120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389120" cy="548640"/>
            </a:xfrm>
            <a:custGeom>
              <a:avLst/>
              <a:gdLst/>
              <a:ahLst/>
              <a:cxnLst/>
              <a:rect r="r" b="b" t="t" l="l"/>
              <a:pathLst>
                <a:path h="5486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43891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CARRERA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234440" y="7694676"/>
            <a:ext cx="7269480" cy="480060"/>
            <a:chOff x="0" y="0"/>
            <a:chExt cx="9692640" cy="6400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969264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Ingeniería en Informática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915400" y="7365492"/>
            <a:ext cx="3291840" cy="411480"/>
            <a:chOff x="0" y="0"/>
            <a:chExt cx="4389120" cy="5486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389120" cy="548640"/>
            </a:xfrm>
            <a:custGeom>
              <a:avLst/>
              <a:gdLst/>
              <a:ahLst/>
              <a:cxnLst/>
              <a:rect r="r" b="b" t="t" l="l"/>
              <a:pathLst>
                <a:path h="5486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43891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SEDE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8915400" y="7694676"/>
            <a:ext cx="7269480" cy="480060"/>
            <a:chOff x="0" y="0"/>
            <a:chExt cx="9692640" cy="6400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47625"/>
              <a:ext cx="969264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San Bernardo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34440" y="9436608"/>
            <a:ext cx="1577340" cy="438912"/>
            <a:chOff x="0" y="0"/>
            <a:chExt cx="2103120" cy="585216"/>
          </a:xfrm>
        </p:grpSpPr>
        <p:sp>
          <p:nvSpPr>
            <p:cNvPr name="Freeform 40" id="40" descr="assets/duocuc_logo_white.png"/>
            <p:cNvSpPr/>
            <p:nvPr/>
          </p:nvSpPr>
          <p:spPr>
            <a:xfrm flipH="false" flipV="false" rot="0">
              <a:off x="0" y="0"/>
              <a:ext cx="2103120" cy="585216"/>
            </a:xfrm>
            <a:custGeom>
              <a:avLst/>
              <a:gdLst/>
              <a:ahLst/>
              <a:cxnLst/>
              <a:rect r="r" b="b" t="t" l="l"/>
              <a:pathLst>
                <a:path h="585216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INTRODUCCIÓN AL PROYECTO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Modernizar la gestión de recursos institucionales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537460"/>
            <a:ext cx="8229600" cy="1783080"/>
            <a:chOff x="0" y="0"/>
            <a:chExt cx="10972800" cy="23774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72800" cy="2377440"/>
            </a:xfrm>
            <a:custGeom>
              <a:avLst/>
              <a:gdLst/>
              <a:ahLst/>
              <a:cxnLst/>
              <a:rect r="r" b="b" t="t" l="l"/>
              <a:pathLst>
                <a:path h="2377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930" r="0" b="-3993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14300"/>
              <a:ext cx="10972800" cy="2491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75"/>
                </a:lnSpc>
              </a:pPr>
              <a:r>
                <a:rPr lang="en-US" sz="22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Bomberos de San Bernardo gestiona equipos y mantenimientos de forma manual y fragmentada.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85800" y="5061204"/>
            <a:ext cx="685800" cy="685800"/>
            <a:chOff x="0" y="0"/>
            <a:chExt cx="914400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731520" y="0"/>
                  </a:lnTo>
                  <a:cubicBezTo>
                    <a:pt x="832485" y="0"/>
                    <a:pt x="914400" y="81915"/>
                    <a:pt x="914400" y="182880"/>
                  </a:cubicBezTo>
                  <a:lnTo>
                    <a:pt x="914400" y="731520"/>
                  </a:lnTo>
                  <a:cubicBezTo>
                    <a:pt x="914400" y="832485"/>
                    <a:pt x="832485" y="914400"/>
                    <a:pt x="731520" y="914400"/>
                  </a:cubicBezTo>
                  <a:lnTo>
                    <a:pt x="182880" y="914400"/>
                  </a:lnTo>
                  <a:cubicBezTo>
                    <a:pt x="81915" y="914400"/>
                    <a:pt x="0" y="832485"/>
                    <a:pt x="0" y="731520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5198364"/>
            <a:ext cx="411480" cy="411480"/>
            <a:chOff x="0" y="0"/>
            <a:chExt cx="548640" cy="548640"/>
          </a:xfrm>
        </p:grpSpPr>
        <p:sp>
          <p:nvSpPr>
            <p:cNvPr name="Freeform 15" id="15" descr="assets/icons/boxes_stacked_nav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77340" y="5061204"/>
            <a:ext cx="7269480" cy="685800"/>
            <a:chOff x="0" y="0"/>
            <a:chExt cx="9692640" cy="914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692640" cy="914400"/>
            </a:xfrm>
            <a:custGeom>
              <a:avLst/>
              <a:gdLst/>
              <a:ahLst/>
              <a:cxnLst/>
              <a:rect r="r" b="b" t="t" l="l"/>
              <a:pathLst>
                <a:path h="91440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6541" r="0" b="-15654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969264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Inventario de equipos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" y="6309360"/>
            <a:ext cx="685800" cy="685800"/>
            <a:chOff x="0" y="0"/>
            <a:chExt cx="914400" cy="914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731520" y="0"/>
                  </a:lnTo>
                  <a:cubicBezTo>
                    <a:pt x="832485" y="0"/>
                    <a:pt x="914400" y="81915"/>
                    <a:pt x="914400" y="182880"/>
                  </a:cubicBezTo>
                  <a:lnTo>
                    <a:pt x="914400" y="731520"/>
                  </a:lnTo>
                  <a:cubicBezTo>
                    <a:pt x="914400" y="832485"/>
                    <a:pt x="832485" y="914400"/>
                    <a:pt x="731520" y="914400"/>
                  </a:cubicBezTo>
                  <a:lnTo>
                    <a:pt x="182880" y="914400"/>
                  </a:lnTo>
                  <a:cubicBezTo>
                    <a:pt x="81915" y="914400"/>
                    <a:pt x="0" y="832485"/>
                    <a:pt x="0" y="731520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6446520"/>
            <a:ext cx="411480" cy="411480"/>
            <a:chOff x="0" y="0"/>
            <a:chExt cx="548640" cy="548640"/>
          </a:xfrm>
        </p:grpSpPr>
        <p:sp>
          <p:nvSpPr>
            <p:cNvPr name="Freeform 22" id="22" descr="assets/icons/truck_fire_nav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577340" y="6309360"/>
            <a:ext cx="7269480" cy="685800"/>
            <a:chOff x="0" y="0"/>
            <a:chExt cx="9692640" cy="914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692640" cy="914400"/>
            </a:xfrm>
            <a:custGeom>
              <a:avLst/>
              <a:gdLst/>
              <a:ahLst/>
              <a:cxnLst/>
              <a:rect r="r" b="b" t="t" l="l"/>
              <a:pathLst>
                <a:path h="91440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6541" r="0" b="-15654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969264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Mantenimiento de unidades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85800" y="7557135"/>
            <a:ext cx="685800" cy="685800"/>
            <a:chOff x="0" y="0"/>
            <a:chExt cx="914400" cy="914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731520" y="0"/>
                  </a:lnTo>
                  <a:cubicBezTo>
                    <a:pt x="832485" y="0"/>
                    <a:pt x="914400" y="81915"/>
                    <a:pt x="914400" y="182880"/>
                  </a:cubicBezTo>
                  <a:lnTo>
                    <a:pt x="914400" y="731520"/>
                  </a:lnTo>
                  <a:cubicBezTo>
                    <a:pt x="914400" y="832485"/>
                    <a:pt x="832485" y="914400"/>
                    <a:pt x="731520" y="914400"/>
                  </a:cubicBezTo>
                  <a:lnTo>
                    <a:pt x="182880" y="914400"/>
                  </a:lnTo>
                  <a:cubicBezTo>
                    <a:pt x="81915" y="914400"/>
                    <a:pt x="0" y="832485"/>
                    <a:pt x="0" y="731520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7694295"/>
            <a:ext cx="411480" cy="411480"/>
            <a:chOff x="0" y="0"/>
            <a:chExt cx="548640" cy="548640"/>
          </a:xfrm>
        </p:grpSpPr>
        <p:sp>
          <p:nvSpPr>
            <p:cNvPr name="Freeform 29" id="29" descr="assets/icons/clock_nav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77340" y="7557135"/>
            <a:ext cx="7269480" cy="685800"/>
            <a:chOff x="0" y="0"/>
            <a:chExt cx="9692640" cy="914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692640" cy="914400"/>
            </a:xfrm>
            <a:custGeom>
              <a:avLst/>
              <a:gdLst/>
              <a:ahLst/>
              <a:cxnLst/>
              <a:rect r="r" b="b" t="t" l="l"/>
              <a:pathLst>
                <a:path h="91440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6541" r="0" b="-15654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969264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Historial y disponibilidad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601200" y="2537460"/>
            <a:ext cx="8023860" cy="6515100"/>
            <a:chOff x="0" y="0"/>
            <a:chExt cx="10698480" cy="8686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698480" cy="8686800"/>
            </a:xfrm>
            <a:custGeom>
              <a:avLst/>
              <a:gdLst/>
              <a:ahLst/>
              <a:cxnLst/>
              <a:rect r="r" b="b" t="t" l="l"/>
              <a:pathLst>
                <a:path h="8686800" w="106984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552176" y="0"/>
                  </a:lnTo>
                  <a:cubicBezTo>
                    <a:pt x="10632948" y="0"/>
                    <a:pt x="10698480" y="65532"/>
                    <a:pt x="10698480" y="146304"/>
                  </a:cubicBezTo>
                  <a:lnTo>
                    <a:pt x="10698480" y="8540496"/>
                  </a:lnTo>
                  <a:cubicBezTo>
                    <a:pt x="10698480" y="8621268"/>
                    <a:pt x="10632948" y="8686800"/>
                    <a:pt x="10552176" y="8686800"/>
                  </a:cubicBezTo>
                  <a:lnTo>
                    <a:pt x="146304" y="8686800"/>
                  </a:lnTo>
                  <a:cubicBezTo>
                    <a:pt x="65532" y="8686800"/>
                    <a:pt x="0" y="8621268"/>
                    <a:pt x="0" y="8540496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2618720" y="3223260"/>
            <a:ext cx="1988820" cy="1988820"/>
            <a:chOff x="0" y="0"/>
            <a:chExt cx="2651760" cy="2651760"/>
          </a:xfrm>
        </p:grpSpPr>
        <p:sp>
          <p:nvSpPr>
            <p:cNvPr name="Freeform 36" id="36" descr="assets/icons/warehouse_white.png"/>
            <p:cNvSpPr/>
            <p:nvPr/>
          </p:nvSpPr>
          <p:spPr>
            <a:xfrm flipH="false" flipV="false" rot="0">
              <a:off x="0" y="0"/>
              <a:ext cx="265176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2651760"/>
                  </a:lnTo>
                  <a:lnTo>
                    <a:pt x="0" y="2651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287000" y="5486400"/>
            <a:ext cx="6652260" cy="1645920"/>
            <a:chOff x="0" y="0"/>
            <a:chExt cx="8869680" cy="21945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52" r="0" b="-28752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8869680" cy="22136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Un solo sistema para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toda la información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operativa de la unidad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149840" y="7200900"/>
            <a:ext cx="6926580" cy="1234440"/>
            <a:chOff x="0" y="0"/>
            <a:chExt cx="9235440" cy="16459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235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332" r="0" b="-59332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9235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i="true">
                  <a:solidFill>
                    <a:srgbClr val="F2D9C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Equipos · Vehículos · Mantenimientos · Alertas · Reportes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44" id="44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61" t="0" r="-661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CONTEXTO Y 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Sin trazabilidad no hay control real de los recursos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674620"/>
            <a:ext cx="8092440" cy="6172200"/>
            <a:chOff x="0" y="0"/>
            <a:chExt cx="10789920" cy="8229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89920" cy="8229600"/>
            </a:xfrm>
            <a:custGeom>
              <a:avLst/>
              <a:gdLst/>
              <a:ahLst/>
              <a:cxnLst/>
              <a:rect r="r" b="b" t="t" l="l"/>
              <a:pathLst>
                <a:path h="8229600" w="1078992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3616" y="0"/>
                  </a:lnTo>
                  <a:cubicBezTo>
                    <a:pt x="10724388" y="0"/>
                    <a:pt x="10789920" y="65532"/>
                    <a:pt x="10789920" y="146304"/>
                  </a:cubicBezTo>
                  <a:lnTo>
                    <a:pt x="10789920" y="8083296"/>
                  </a:lnTo>
                  <a:cubicBezTo>
                    <a:pt x="10789920" y="8164068"/>
                    <a:pt x="10724388" y="8229600"/>
                    <a:pt x="10643616" y="8229600"/>
                  </a:cubicBezTo>
                  <a:lnTo>
                    <a:pt x="146304" y="8229600"/>
                  </a:lnTo>
                  <a:cubicBezTo>
                    <a:pt x="65532" y="8229600"/>
                    <a:pt x="0" y="8164068"/>
                    <a:pt x="0" y="808329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165860" y="3154680"/>
            <a:ext cx="1028700" cy="1028700"/>
            <a:chOff x="0" y="0"/>
            <a:chExt cx="1371600" cy="1371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1078992" y="0"/>
                  </a:lnTo>
                  <a:cubicBezTo>
                    <a:pt x="1240536" y="0"/>
                    <a:pt x="1371600" y="131064"/>
                    <a:pt x="1371600" y="292608"/>
                  </a:cubicBezTo>
                  <a:lnTo>
                    <a:pt x="1371600" y="1078992"/>
                  </a:lnTo>
                  <a:cubicBezTo>
                    <a:pt x="1371600" y="1240536"/>
                    <a:pt x="1240536" y="1371600"/>
                    <a:pt x="1078992" y="1371600"/>
                  </a:cubicBezTo>
                  <a:lnTo>
                    <a:pt x="292608" y="1371600"/>
                  </a:lnTo>
                  <a:cubicBezTo>
                    <a:pt x="131064" y="1371600"/>
                    <a:pt x="0" y="1240536"/>
                    <a:pt x="0" y="1078992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40180" y="3429000"/>
            <a:ext cx="480060" cy="480060"/>
            <a:chOff x="0" y="0"/>
            <a:chExt cx="640080" cy="640080"/>
          </a:xfrm>
        </p:grpSpPr>
        <p:sp>
          <p:nvSpPr>
            <p:cNvPr name="Freeform 14" id="14" descr="assets/icons/triangle_exclaim_white.png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4457700"/>
            <a:ext cx="7132320" cy="822960"/>
            <a:chOff x="0" y="0"/>
            <a:chExt cx="9509760" cy="1097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0976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8870" r="0" b="-11887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950976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8A1D16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Falta de sistema centralizado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65860" y="5349240"/>
            <a:ext cx="7132320" cy="3154680"/>
            <a:chOff x="0" y="0"/>
            <a:chExt cx="9509760" cy="4206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509760" cy="4206240"/>
            </a:xfrm>
            <a:custGeom>
              <a:avLst/>
              <a:gdLst/>
              <a:ahLst/>
              <a:cxnLst/>
              <a:rect r="r" b="b" t="t" l="l"/>
              <a:pathLst>
                <a:path h="420624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206240"/>
                  </a:lnTo>
                  <a:lnTo>
                    <a:pt x="0" y="4206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749" t="0" r="-6749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04775"/>
              <a:ext cx="9509760" cy="43110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25"/>
                </a:lnSpc>
              </a:pPr>
              <a:r>
                <a:rPr lang="en-US" sz="19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Control manual, con planillas fragmentadas.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189720" y="2674620"/>
            <a:ext cx="8092440" cy="6172200"/>
            <a:chOff x="0" y="0"/>
            <a:chExt cx="10789920" cy="822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89920" cy="8229600"/>
            </a:xfrm>
            <a:custGeom>
              <a:avLst/>
              <a:gdLst/>
              <a:ahLst/>
              <a:cxnLst/>
              <a:rect r="r" b="b" t="t" l="l"/>
              <a:pathLst>
                <a:path h="8229600" w="1078992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3616" y="0"/>
                  </a:lnTo>
                  <a:cubicBezTo>
                    <a:pt x="10724388" y="0"/>
                    <a:pt x="10789920" y="65532"/>
                    <a:pt x="10789920" y="146304"/>
                  </a:cubicBezTo>
                  <a:lnTo>
                    <a:pt x="10789920" y="8083296"/>
                  </a:lnTo>
                  <a:cubicBezTo>
                    <a:pt x="10789920" y="8164068"/>
                    <a:pt x="10724388" y="8229600"/>
                    <a:pt x="10643616" y="8229600"/>
                  </a:cubicBezTo>
                  <a:lnTo>
                    <a:pt x="146304" y="8229600"/>
                  </a:lnTo>
                  <a:cubicBezTo>
                    <a:pt x="65532" y="8229600"/>
                    <a:pt x="0" y="8164068"/>
                    <a:pt x="0" y="808329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69780" y="3154680"/>
            <a:ext cx="1028700" cy="1028700"/>
            <a:chOff x="0" y="0"/>
            <a:chExt cx="1371600" cy="1371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1078992" y="0"/>
                  </a:lnTo>
                  <a:cubicBezTo>
                    <a:pt x="1240536" y="0"/>
                    <a:pt x="1371600" y="131064"/>
                    <a:pt x="1371600" y="292608"/>
                  </a:cubicBezTo>
                  <a:lnTo>
                    <a:pt x="1371600" y="1078992"/>
                  </a:lnTo>
                  <a:cubicBezTo>
                    <a:pt x="1371600" y="1240536"/>
                    <a:pt x="1240536" y="1371600"/>
                    <a:pt x="1078992" y="1371600"/>
                  </a:cubicBezTo>
                  <a:lnTo>
                    <a:pt x="292608" y="1371600"/>
                  </a:lnTo>
                  <a:cubicBezTo>
                    <a:pt x="131064" y="1371600"/>
                    <a:pt x="0" y="1240536"/>
                    <a:pt x="0" y="1078992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944100" y="3429000"/>
            <a:ext cx="480060" cy="480060"/>
            <a:chOff x="0" y="0"/>
            <a:chExt cx="640080" cy="640080"/>
          </a:xfrm>
        </p:grpSpPr>
        <p:sp>
          <p:nvSpPr>
            <p:cNvPr name="Freeform 26" id="26" descr="assets/icons/magnifying_white.png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669780" y="4457700"/>
            <a:ext cx="7132320" cy="822960"/>
            <a:chOff x="0" y="0"/>
            <a:chExt cx="9509760" cy="10972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50976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8870" r="0" b="-11887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950976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8A1D16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Dificultad en la trazabilidad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669780" y="5349240"/>
            <a:ext cx="7132320" cy="3154680"/>
            <a:chOff x="0" y="0"/>
            <a:chExt cx="9509760" cy="4206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509760" cy="4206240"/>
            </a:xfrm>
            <a:custGeom>
              <a:avLst/>
              <a:gdLst/>
              <a:ahLst/>
              <a:cxnLst/>
              <a:rect r="r" b="b" t="t" l="l"/>
              <a:pathLst>
                <a:path h="420624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206240"/>
                  </a:lnTo>
                  <a:lnTo>
                    <a:pt x="0" y="4206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749" t="0" r="-6749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04775"/>
              <a:ext cx="9509760" cy="43110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25"/>
                </a:lnSpc>
              </a:pPr>
              <a:r>
                <a:rPr lang="en-US" sz="19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Sin datos organizados para anticipar mantenimientos.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34" id="34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61" t="0" r="-661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DEL PROYECTO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Objetivo general y específicos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674620"/>
            <a:ext cx="16253460" cy="1577340"/>
            <a:chOff x="0" y="0"/>
            <a:chExt cx="21671280" cy="21031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671280" cy="2103120"/>
            </a:xfrm>
            <a:custGeom>
              <a:avLst/>
              <a:gdLst/>
              <a:ahLst/>
              <a:cxnLst/>
              <a:rect r="r" b="b" t="t" l="l"/>
              <a:pathLst>
                <a:path h="2103120" w="216712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524976" y="0"/>
                  </a:lnTo>
                  <a:cubicBezTo>
                    <a:pt x="21605748" y="0"/>
                    <a:pt x="21671280" y="65532"/>
                    <a:pt x="21671280" y="146304"/>
                  </a:cubicBezTo>
                  <a:lnTo>
                    <a:pt x="21671280" y="1956816"/>
                  </a:lnTo>
                  <a:cubicBezTo>
                    <a:pt x="21671280" y="2037588"/>
                    <a:pt x="21605748" y="2103120"/>
                    <a:pt x="21524976" y="2103120"/>
                  </a:cubicBezTo>
                  <a:lnTo>
                    <a:pt x="146304" y="2103120"/>
                  </a:lnTo>
                  <a:cubicBezTo>
                    <a:pt x="65532" y="2103120"/>
                    <a:pt x="0" y="2037588"/>
                    <a:pt x="0" y="1956816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165860" y="3154680"/>
            <a:ext cx="685800" cy="685800"/>
            <a:chOff x="0" y="0"/>
            <a:chExt cx="914400" cy="914400"/>
          </a:xfrm>
        </p:grpSpPr>
        <p:sp>
          <p:nvSpPr>
            <p:cNvPr name="Freeform 12" id="12" descr="assets/icons/bullseye_whit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125980" y="2674620"/>
            <a:ext cx="14470380" cy="1577340"/>
            <a:chOff x="0" y="0"/>
            <a:chExt cx="19293840" cy="2103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293839" cy="2103120"/>
            </a:xfrm>
            <a:custGeom>
              <a:avLst/>
              <a:gdLst/>
              <a:ahLst/>
              <a:cxnLst/>
              <a:rect r="r" b="b" t="t" l="l"/>
              <a:pathLst>
                <a:path h="2103120" w="19293839">
                  <a:moveTo>
                    <a:pt x="0" y="0"/>
                  </a:moveTo>
                  <a:lnTo>
                    <a:pt x="19293839" y="0"/>
                  </a:lnTo>
                  <a:lnTo>
                    <a:pt x="19293839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8754" r="0" b="-128754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19293840" cy="21507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Gestionar el inventario y mantenimiento de equipos y unidades de Bomberos de San Bernardo.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85800" y="4800600"/>
            <a:ext cx="576072" cy="576072"/>
            <a:chOff x="0" y="0"/>
            <a:chExt cx="768096" cy="768096"/>
          </a:xfrm>
        </p:grpSpPr>
        <p:sp>
          <p:nvSpPr>
            <p:cNvPr name="Freeform 17" id="17" descr="assets/icons/layer_group_navy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536192" y="4732020"/>
            <a:ext cx="7132320" cy="548640"/>
            <a:chOff x="0" y="0"/>
            <a:chExt cx="9509760" cy="7315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509760" cy="731520"/>
            </a:xfrm>
            <a:custGeom>
              <a:avLst/>
              <a:gdLst/>
              <a:ahLst/>
              <a:cxnLst/>
              <a:rect r="r" b="b" t="t" l="l"/>
              <a:pathLst>
                <a:path h="73152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9509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Modelar los datos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536192" y="5280660"/>
            <a:ext cx="7132320" cy="1165860"/>
            <a:chOff x="0" y="0"/>
            <a:chExt cx="9509760" cy="1554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509760" cy="1554480"/>
            </a:xfrm>
            <a:custGeom>
              <a:avLst/>
              <a:gdLst/>
              <a:ahLst/>
              <a:cxnLst/>
              <a:rect r="r" b="b" t="t" l="l"/>
              <a:pathLst>
                <a:path h="155448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9202" r="0" b="-69202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76200"/>
              <a:ext cx="9509760" cy="1630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92"/>
                </a:lnSpc>
              </a:pPr>
              <a:r>
                <a:rPr lang="en-US" sz="18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Organizar equipos, unidades y mantenimientos.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915400" y="4800600"/>
            <a:ext cx="576072" cy="576072"/>
            <a:chOff x="0" y="0"/>
            <a:chExt cx="768096" cy="768096"/>
          </a:xfrm>
        </p:grpSpPr>
        <p:sp>
          <p:nvSpPr>
            <p:cNvPr name="Freeform 25" id="25" descr="assets/icons/laptop_code_navy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765792" y="4732020"/>
            <a:ext cx="7132320" cy="548640"/>
            <a:chOff x="0" y="0"/>
            <a:chExt cx="9509760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509760" cy="731520"/>
            </a:xfrm>
            <a:custGeom>
              <a:avLst/>
              <a:gdLst/>
              <a:ahLst/>
              <a:cxnLst/>
              <a:rect r="r" b="b" t="t" l="l"/>
              <a:pathLst>
                <a:path h="73152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9509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Desarrollar la solución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765792" y="5280660"/>
            <a:ext cx="7132320" cy="1165860"/>
            <a:chOff x="0" y="0"/>
            <a:chExt cx="9509760" cy="15544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509760" cy="1554480"/>
            </a:xfrm>
            <a:custGeom>
              <a:avLst/>
              <a:gdLst/>
              <a:ahLst/>
              <a:cxnLst/>
              <a:rect r="r" b="b" t="t" l="l"/>
              <a:pathLst>
                <a:path h="155448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9202" r="0" b="-6920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76200"/>
              <a:ext cx="9509760" cy="1630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92"/>
                </a:lnSpc>
              </a:pPr>
              <a:r>
                <a:rPr lang="en-US" sz="18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Registrar y consultar el inventario.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85800" y="6926580"/>
            <a:ext cx="576072" cy="576072"/>
            <a:chOff x="0" y="0"/>
            <a:chExt cx="768096" cy="768096"/>
          </a:xfrm>
        </p:grpSpPr>
        <p:sp>
          <p:nvSpPr>
            <p:cNvPr name="Freeform 33" id="33" descr="assets/icons/bell_navy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36192" y="6858000"/>
            <a:ext cx="7132320" cy="548640"/>
            <a:chOff x="0" y="0"/>
            <a:chExt cx="9509760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509760" cy="731520"/>
            </a:xfrm>
            <a:custGeom>
              <a:avLst/>
              <a:gdLst/>
              <a:ahLst/>
              <a:cxnLst/>
              <a:rect r="r" b="b" t="t" l="l"/>
              <a:pathLst>
                <a:path h="73152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9509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Dar seguimiento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536192" y="7406640"/>
            <a:ext cx="7132320" cy="1165860"/>
            <a:chOff x="0" y="0"/>
            <a:chExt cx="9509760" cy="15544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509760" cy="1554480"/>
            </a:xfrm>
            <a:custGeom>
              <a:avLst/>
              <a:gdLst/>
              <a:ahLst/>
              <a:cxnLst/>
              <a:rect r="r" b="b" t="t" l="l"/>
              <a:pathLst>
                <a:path h="155448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9202" r="0" b="-69202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76200"/>
              <a:ext cx="9509760" cy="1630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92"/>
                </a:lnSpc>
              </a:pPr>
              <a:r>
                <a:rPr lang="en-US" sz="18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Alertas de mantenimientos programados.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8915400" y="6926580"/>
            <a:ext cx="576072" cy="576072"/>
            <a:chOff x="0" y="0"/>
            <a:chExt cx="768096" cy="768096"/>
          </a:xfrm>
        </p:grpSpPr>
        <p:sp>
          <p:nvSpPr>
            <p:cNvPr name="Freeform 41" id="41" descr="assets/icons/circle_check_navy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9765792" y="6858000"/>
            <a:ext cx="7132320" cy="548640"/>
            <a:chOff x="0" y="0"/>
            <a:chExt cx="9509760" cy="7315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09760" cy="731520"/>
            </a:xfrm>
            <a:custGeom>
              <a:avLst/>
              <a:gdLst/>
              <a:ahLst/>
              <a:cxnLst/>
              <a:rect r="r" b="b" t="t" l="l"/>
              <a:pathLst>
                <a:path h="73152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9509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Validar resultados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765792" y="7406640"/>
            <a:ext cx="7132320" cy="1165860"/>
            <a:chOff x="0" y="0"/>
            <a:chExt cx="9509760" cy="15544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509760" cy="1554480"/>
            </a:xfrm>
            <a:custGeom>
              <a:avLst/>
              <a:gdLst/>
              <a:ahLst/>
              <a:cxnLst/>
              <a:rect r="r" b="b" t="t" l="l"/>
              <a:pathLst>
                <a:path h="155448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9202" r="0" b="-69202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76200"/>
              <a:ext cx="9509760" cy="1630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92"/>
                </a:lnSpc>
              </a:pPr>
              <a:r>
                <a:rPr lang="en-US" sz="18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Probar y mejorar con los resultados.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49" id="49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661" t="0" r="-661" b="0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FACTIBILIDAD DEL PROYECTO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Un proyecto realista y viable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674620"/>
            <a:ext cx="7886700" cy="2880360"/>
            <a:chOff x="0" y="0"/>
            <a:chExt cx="10515600" cy="38404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97280" y="3086100"/>
            <a:ext cx="891540" cy="891540"/>
            <a:chOff x="0" y="0"/>
            <a:chExt cx="1188720" cy="11887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330452" y="3319272"/>
            <a:ext cx="438912" cy="438912"/>
            <a:chOff x="0" y="0"/>
            <a:chExt cx="585216" cy="585216"/>
          </a:xfrm>
        </p:grpSpPr>
        <p:sp>
          <p:nvSpPr>
            <p:cNvPr name="Freeform 14" id="14" descr="assets/icons/laptop_code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194560" y="3017520"/>
            <a:ext cx="6035040" cy="685800"/>
            <a:chOff x="0" y="0"/>
            <a:chExt cx="8046720" cy="9144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804672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Técnica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97280" y="4114800"/>
            <a:ext cx="7132320" cy="1303020"/>
            <a:chOff x="0" y="0"/>
            <a:chExt cx="9509760" cy="17373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Tecnologías ya conocidas: web y SQL.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915400" y="2674620"/>
            <a:ext cx="7886700" cy="2880360"/>
            <a:chOff x="0" y="0"/>
            <a:chExt cx="10515600" cy="3840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326880" y="3086100"/>
            <a:ext cx="891540" cy="891540"/>
            <a:chOff x="0" y="0"/>
            <a:chExt cx="1188720" cy="11887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560052" y="3319272"/>
            <a:ext cx="438912" cy="438912"/>
            <a:chOff x="0" y="0"/>
            <a:chExt cx="585216" cy="585216"/>
          </a:xfrm>
        </p:grpSpPr>
        <p:sp>
          <p:nvSpPr>
            <p:cNvPr name="Freeform 26" id="26" descr="assets/icons/shield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3017520"/>
            <a:ext cx="6035040" cy="685800"/>
            <a:chOff x="0" y="0"/>
            <a:chExt cx="8046720" cy="9144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804672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Legal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326880" y="4114800"/>
            <a:ext cx="7132320" cy="1303020"/>
            <a:chOff x="0" y="0"/>
            <a:chExt cx="950976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Sin datos sensibles; acceso autenticado.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85800" y="5897880"/>
            <a:ext cx="7886700" cy="2880360"/>
            <a:chOff x="0" y="0"/>
            <a:chExt cx="10515600" cy="38404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97280" y="6309360"/>
            <a:ext cx="891540" cy="891540"/>
            <a:chOff x="0" y="0"/>
            <a:chExt cx="1188720" cy="11887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330452" y="6542532"/>
            <a:ext cx="438912" cy="438912"/>
            <a:chOff x="0" y="0"/>
            <a:chExt cx="585216" cy="585216"/>
          </a:xfrm>
        </p:grpSpPr>
        <p:sp>
          <p:nvSpPr>
            <p:cNvPr name="Freeform 38" id="38" descr="assets/icons/users_gear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2194560" y="6240780"/>
            <a:ext cx="6035040" cy="685800"/>
            <a:chOff x="0" y="0"/>
            <a:chExt cx="8046720" cy="9144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57150"/>
              <a:ext cx="804672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Organizacional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7338060"/>
            <a:ext cx="7132320" cy="1303020"/>
            <a:chOff x="0" y="0"/>
            <a:chExt cx="9509760" cy="17373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Estructura clara y buena disposición.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8915400" y="5897880"/>
            <a:ext cx="7886700" cy="2880360"/>
            <a:chOff x="0" y="0"/>
            <a:chExt cx="10515600" cy="38404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9326880" y="6309360"/>
            <a:ext cx="891540" cy="891540"/>
            <a:chOff x="0" y="0"/>
            <a:chExt cx="1188720" cy="11887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9560052" y="6542532"/>
            <a:ext cx="438912" cy="438912"/>
            <a:chOff x="0" y="0"/>
            <a:chExt cx="585216" cy="585216"/>
          </a:xfrm>
        </p:grpSpPr>
        <p:sp>
          <p:nvSpPr>
            <p:cNvPr name="Freeform 50" id="50" descr="assets/icons/calendar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0424160" y="6240780"/>
            <a:ext cx="6035040" cy="685800"/>
            <a:chOff x="0" y="0"/>
            <a:chExt cx="8046720" cy="9144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57150"/>
              <a:ext cx="804672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Administrativa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326880" y="7338060"/>
            <a:ext cx="7132320" cy="1303020"/>
            <a:chOff x="0" y="0"/>
            <a:chExt cx="9509760" cy="173736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Sin costos; herramientas gratuitas.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58" id="58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61" t="0" r="-661" b="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METODOLOGÍA DE TRABAJO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Scrum para un avance individual y progresivo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537460"/>
            <a:ext cx="16253460" cy="822960"/>
            <a:chOff x="0" y="0"/>
            <a:chExt cx="21671280" cy="10972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671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671280">
                  <a:moveTo>
                    <a:pt x="0" y="0"/>
                  </a:moveTo>
                  <a:lnTo>
                    <a:pt x="21671280" y="0"/>
                  </a:lnTo>
                  <a:lnTo>
                    <a:pt x="21671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4829" r="0" b="-334829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04775"/>
              <a:ext cx="21671280" cy="12020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1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Ciclos cortos (sprints) para avanzar de forma gradual y verificable.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71512" y="4100512"/>
            <a:ext cx="3800475" cy="4623435"/>
            <a:chOff x="0" y="0"/>
            <a:chExt cx="5067300" cy="61645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67300" cy="6164580"/>
            </a:xfrm>
            <a:custGeom>
              <a:avLst/>
              <a:gdLst/>
              <a:ahLst/>
              <a:cxnLst/>
              <a:rect r="r" b="b" t="t" l="l"/>
              <a:pathLst>
                <a:path h="6164580" w="5067300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4919853" y="0"/>
                  </a:lnTo>
                  <a:cubicBezTo>
                    <a:pt x="5001260" y="0"/>
                    <a:pt x="5067300" y="66040"/>
                    <a:pt x="5067300" y="147447"/>
                  </a:cubicBezTo>
                  <a:lnTo>
                    <a:pt x="5067300" y="6017133"/>
                  </a:lnTo>
                  <a:cubicBezTo>
                    <a:pt x="5067300" y="6098540"/>
                    <a:pt x="5001260" y="6164580"/>
                    <a:pt x="4919853" y="6164580"/>
                  </a:cubicBezTo>
                  <a:lnTo>
                    <a:pt x="147447" y="6164580"/>
                  </a:lnTo>
                  <a:cubicBezTo>
                    <a:pt x="66040" y="6164580"/>
                    <a:pt x="0" y="6098540"/>
                    <a:pt x="0" y="6017133"/>
                  </a:cubicBezTo>
                  <a:close/>
                </a:path>
              </a:pathLst>
            </a:custGeom>
            <a:solidFill>
              <a:srgbClr val="FBEAE6"/>
            </a:solidFill>
            <a:ln w="28575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988820" y="4526280"/>
            <a:ext cx="1165860" cy="1165860"/>
            <a:chOff x="0" y="0"/>
            <a:chExt cx="1554480" cy="15544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5544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54480">
                  <a:moveTo>
                    <a:pt x="0" y="777240"/>
                  </a:moveTo>
                  <a:cubicBezTo>
                    <a:pt x="0" y="347980"/>
                    <a:pt x="347980" y="0"/>
                    <a:pt x="777240" y="0"/>
                  </a:cubicBezTo>
                  <a:cubicBezTo>
                    <a:pt x="1206500" y="0"/>
                    <a:pt x="1554480" y="347980"/>
                    <a:pt x="1554480" y="777240"/>
                  </a:cubicBezTo>
                  <a:cubicBezTo>
                    <a:pt x="1554480" y="1206500"/>
                    <a:pt x="1206500" y="1554480"/>
                    <a:pt x="777240" y="1554480"/>
                  </a:cubicBezTo>
                  <a:cubicBezTo>
                    <a:pt x="347980" y="1554480"/>
                    <a:pt x="0" y="1206500"/>
                    <a:pt x="0" y="777240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221992" y="4759452"/>
            <a:ext cx="685800" cy="685800"/>
            <a:chOff x="0" y="0"/>
            <a:chExt cx="914400" cy="914400"/>
          </a:xfrm>
        </p:grpSpPr>
        <p:sp>
          <p:nvSpPr>
            <p:cNvPr name="Freeform 17" id="17" descr="assets/icons/magnifying_whit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3771900" y="4183380"/>
            <a:ext cx="548640" cy="548640"/>
            <a:chOff x="0" y="0"/>
            <a:chExt cx="731520" cy="7315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91540" y="5966460"/>
            <a:ext cx="3360420" cy="548640"/>
            <a:chOff x="0" y="0"/>
            <a:chExt cx="4480560" cy="7315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480560" cy="731520"/>
            </a:xfrm>
            <a:custGeom>
              <a:avLst/>
              <a:gdLst/>
              <a:ahLst/>
              <a:cxnLst/>
              <a:rect r="r" b="b" t="t" l="l"/>
              <a:pathLst>
                <a:path h="731520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345" r="0" b="-6934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44805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Levantamiento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6556248"/>
            <a:ext cx="3223260" cy="1920240"/>
            <a:chOff x="0" y="0"/>
            <a:chExt cx="4297680" cy="2560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297680" cy="2560320"/>
            </a:xfrm>
            <a:custGeom>
              <a:avLst/>
              <a:gdLst/>
              <a:ahLst/>
              <a:cxnLst/>
              <a:rect r="r" b="b" t="t" l="l"/>
              <a:pathLst>
                <a:path h="2560320" w="4297680">
                  <a:moveTo>
                    <a:pt x="0" y="0"/>
                  </a:moveTo>
                  <a:lnTo>
                    <a:pt x="4297680" y="0"/>
                  </a:lnTo>
                  <a:lnTo>
                    <a:pt x="42976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436" t="0" r="-26436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4297680" cy="26174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77"/>
                </a:lnSpc>
              </a:pPr>
              <a:r>
                <a:rPr lang="en-US" sz="16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Requerimientos de la institución.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4498848" y="5047488"/>
            <a:ext cx="329184" cy="82296"/>
            <a:chOff x="0" y="0"/>
            <a:chExt cx="438912" cy="10972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38912" cy="109728"/>
            </a:xfrm>
            <a:custGeom>
              <a:avLst/>
              <a:gdLst/>
              <a:ahLst/>
              <a:cxnLst/>
              <a:rect r="r" b="b" t="t" l="l"/>
              <a:pathLst>
                <a:path h="109728" w="438912">
                  <a:moveTo>
                    <a:pt x="0" y="0"/>
                  </a:moveTo>
                  <a:lnTo>
                    <a:pt x="438912" y="0"/>
                  </a:lnTo>
                  <a:lnTo>
                    <a:pt x="438912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4786312" y="4100512"/>
            <a:ext cx="3800475" cy="4623435"/>
            <a:chOff x="0" y="0"/>
            <a:chExt cx="5067300" cy="61645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067300" cy="6164580"/>
            </a:xfrm>
            <a:custGeom>
              <a:avLst/>
              <a:gdLst/>
              <a:ahLst/>
              <a:cxnLst/>
              <a:rect r="r" b="b" t="t" l="l"/>
              <a:pathLst>
                <a:path h="6164580" w="5067300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4919853" y="0"/>
                  </a:lnTo>
                  <a:cubicBezTo>
                    <a:pt x="5001260" y="0"/>
                    <a:pt x="5067300" y="66040"/>
                    <a:pt x="5067300" y="147447"/>
                  </a:cubicBezTo>
                  <a:lnTo>
                    <a:pt x="5067300" y="6017133"/>
                  </a:lnTo>
                  <a:cubicBezTo>
                    <a:pt x="5067300" y="6098540"/>
                    <a:pt x="5001260" y="6164580"/>
                    <a:pt x="4919853" y="6164580"/>
                  </a:cubicBezTo>
                  <a:lnTo>
                    <a:pt x="147447" y="6164580"/>
                  </a:lnTo>
                  <a:cubicBezTo>
                    <a:pt x="66040" y="6164580"/>
                    <a:pt x="0" y="6098540"/>
                    <a:pt x="0" y="6017133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6103620" y="4526280"/>
            <a:ext cx="1165860" cy="1165860"/>
            <a:chOff x="0" y="0"/>
            <a:chExt cx="1554480" cy="15544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5544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54480">
                  <a:moveTo>
                    <a:pt x="0" y="777240"/>
                  </a:moveTo>
                  <a:cubicBezTo>
                    <a:pt x="0" y="347980"/>
                    <a:pt x="347980" y="0"/>
                    <a:pt x="777240" y="0"/>
                  </a:cubicBezTo>
                  <a:cubicBezTo>
                    <a:pt x="1206500" y="0"/>
                    <a:pt x="1554480" y="347980"/>
                    <a:pt x="1554480" y="777240"/>
                  </a:cubicBezTo>
                  <a:cubicBezTo>
                    <a:pt x="1554480" y="1206500"/>
                    <a:pt x="1206500" y="1554480"/>
                    <a:pt x="777240" y="1554480"/>
                  </a:cubicBezTo>
                  <a:cubicBezTo>
                    <a:pt x="347980" y="1554480"/>
                    <a:pt x="0" y="1206500"/>
                    <a:pt x="0" y="777240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336792" y="4759452"/>
            <a:ext cx="685800" cy="685800"/>
            <a:chOff x="0" y="0"/>
            <a:chExt cx="914400" cy="914400"/>
          </a:xfrm>
        </p:grpSpPr>
        <p:sp>
          <p:nvSpPr>
            <p:cNvPr name="Freeform 34" id="34" descr="assets/icons/clipboard_check_whit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886700" y="4183380"/>
            <a:ext cx="548640" cy="548640"/>
            <a:chOff x="0" y="0"/>
            <a:chExt cx="73152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5006340" y="5966460"/>
            <a:ext cx="3360420" cy="548640"/>
            <a:chOff x="0" y="0"/>
            <a:chExt cx="448056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480560" cy="731520"/>
            </a:xfrm>
            <a:custGeom>
              <a:avLst/>
              <a:gdLst/>
              <a:ahLst/>
              <a:cxnLst/>
              <a:rect r="r" b="b" t="t" l="l"/>
              <a:pathLst>
                <a:path h="731520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345" r="0" b="-6934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44805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Backlog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074920" y="6556248"/>
            <a:ext cx="3223260" cy="1920240"/>
            <a:chOff x="0" y="0"/>
            <a:chExt cx="4297680" cy="25603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297680" cy="2560320"/>
            </a:xfrm>
            <a:custGeom>
              <a:avLst/>
              <a:gdLst/>
              <a:ahLst/>
              <a:cxnLst/>
              <a:rect r="r" b="b" t="t" l="l"/>
              <a:pathLst>
                <a:path h="2560320" w="4297680">
                  <a:moveTo>
                    <a:pt x="0" y="0"/>
                  </a:moveTo>
                  <a:lnTo>
                    <a:pt x="4297680" y="0"/>
                  </a:lnTo>
                  <a:lnTo>
                    <a:pt x="42976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436" t="0" r="-26436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4297680" cy="26174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77"/>
                </a:lnSpc>
              </a:pPr>
              <a:r>
                <a:rPr lang="en-US" sz="16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Funcionalidades priorizadas.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613648" y="5047488"/>
            <a:ext cx="329184" cy="82296"/>
            <a:chOff x="0" y="0"/>
            <a:chExt cx="438912" cy="10972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38912" cy="109728"/>
            </a:xfrm>
            <a:custGeom>
              <a:avLst/>
              <a:gdLst/>
              <a:ahLst/>
              <a:cxnLst/>
              <a:rect r="r" b="b" t="t" l="l"/>
              <a:pathLst>
                <a:path h="109728" w="438912">
                  <a:moveTo>
                    <a:pt x="0" y="0"/>
                  </a:moveTo>
                  <a:lnTo>
                    <a:pt x="438912" y="0"/>
                  </a:lnTo>
                  <a:lnTo>
                    <a:pt x="438912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901112" y="4100512"/>
            <a:ext cx="3800475" cy="4623435"/>
            <a:chOff x="0" y="0"/>
            <a:chExt cx="5067300" cy="616458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067300" cy="6164580"/>
            </a:xfrm>
            <a:custGeom>
              <a:avLst/>
              <a:gdLst/>
              <a:ahLst/>
              <a:cxnLst/>
              <a:rect r="r" b="b" t="t" l="l"/>
              <a:pathLst>
                <a:path h="6164580" w="5067300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4919853" y="0"/>
                  </a:lnTo>
                  <a:cubicBezTo>
                    <a:pt x="5001260" y="0"/>
                    <a:pt x="5067300" y="66040"/>
                    <a:pt x="5067300" y="147447"/>
                  </a:cubicBezTo>
                  <a:lnTo>
                    <a:pt x="5067300" y="6017133"/>
                  </a:lnTo>
                  <a:cubicBezTo>
                    <a:pt x="5067300" y="6098540"/>
                    <a:pt x="5001260" y="6164580"/>
                    <a:pt x="4919853" y="6164580"/>
                  </a:cubicBezTo>
                  <a:lnTo>
                    <a:pt x="147447" y="6164580"/>
                  </a:lnTo>
                  <a:cubicBezTo>
                    <a:pt x="66040" y="6164580"/>
                    <a:pt x="0" y="6098540"/>
                    <a:pt x="0" y="6017133"/>
                  </a:cubicBezTo>
                  <a:close/>
                </a:path>
              </a:pathLst>
            </a:custGeom>
            <a:solidFill>
              <a:srgbClr val="FBEAE6"/>
            </a:solidFill>
            <a:ln w="28575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0218420" y="4526280"/>
            <a:ext cx="1165860" cy="1165860"/>
            <a:chOff x="0" y="0"/>
            <a:chExt cx="1554480" cy="15544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5544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54480">
                  <a:moveTo>
                    <a:pt x="0" y="777240"/>
                  </a:moveTo>
                  <a:cubicBezTo>
                    <a:pt x="0" y="347980"/>
                    <a:pt x="347980" y="0"/>
                    <a:pt x="777240" y="0"/>
                  </a:cubicBezTo>
                  <a:cubicBezTo>
                    <a:pt x="1206500" y="0"/>
                    <a:pt x="1554480" y="347980"/>
                    <a:pt x="1554480" y="777240"/>
                  </a:cubicBezTo>
                  <a:cubicBezTo>
                    <a:pt x="1554480" y="1206500"/>
                    <a:pt x="1206500" y="1554480"/>
                    <a:pt x="777240" y="1554480"/>
                  </a:cubicBezTo>
                  <a:cubicBezTo>
                    <a:pt x="347980" y="1554480"/>
                    <a:pt x="0" y="1206500"/>
                    <a:pt x="0" y="777240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0451592" y="4759452"/>
            <a:ext cx="685800" cy="685800"/>
            <a:chOff x="0" y="0"/>
            <a:chExt cx="914400" cy="914400"/>
          </a:xfrm>
        </p:grpSpPr>
        <p:sp>
          <p:nvSpPr>
            <p:cNvPr name="Freeform 51" id="51" descr="assets/icons/gears_whit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001500" y="4183380"/>
            <a:ext cx="548640" cy="548640"/>
            <a:chOff x="0" y="0"/>
            <a:chExt cx="731520" cy="73152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121140" y="5966460"/>
            <a:ext cx="3360420" cy="548640"/>
            <a:chOff x="0" y="0"/>
            <a:chExt cx="4480560" cy="73152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480560" cy="731520"/>
            </a:xfrm>
            <a:custGeom>
              <a:avLst/>
              <a:gdLst/>
              <a:ahLst/>
              <a:cxnLst/>
              <a:rect r="r" b="b" t="t" l="l"/>
              <a:pathLst>
                <a:path h="731520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345" r="0" b="-69345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44805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Desarrollo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189720" y="6556248"/>
            <a:ext cx="3223260" cy="1920240"/>
            <a:chOff x="0" y="0"/>
            <a:chExt cx="4297680" cy="25603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297680" cy="2560320"/>
            </a:xfrm>
            <a:custGeom>
              <a:avLst/>
              <a:gdLst/>
              <a:ahLst/>
              <a:cxnLst/>
              <a:rect r="r" b="b" t="t" l="l"/>
              <a:pathLst>
                <a:path h="2560320" w="4297680">
                  <a:moveTo>
                    <a:pt x="0" y="0"/>
                  </a:moveTo>
                  <a:lnTo>
                    <a:pt x="4297680" y="0"/>
                  </a:lnTo>
                  <a:lnTo>
                    <a:pt x="42976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436" t="0" r="-26436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57150"/>
              <a:ext cx="4297680" cy="26174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77"/>
                </a:lnSpc>
              </a:pPr>
              <a:r>
                <a:rPr lang="en-US" sz="16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Construcción de los módulos.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728448" y="5047488"/>
            <a:ext cx="329184" cy="82296"/>
            <a:chOff x="0" y="0"/>
            <a:chExt cx="438912" cy="10972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38912" cy="109728"/>
            </a:xfrm>
            <a:custGeom>
              <a:avLst/>
              <a:gdLst/>
              <a:ahLst/>
              <a:cxnLst/>
              <a:rect r="r" b="b" t="t" l="l"/>
              <a:pathLst>
                <a:path h="109728" w="438912">
                  <a:moveTo>
                    <a:pt x="0" y="0"/>
                  </a:moveTo>
                  <a:lnTo>
                    <a:pt x="438912" y="0"/>
                  </a:lnTo>
                  <a:lnTo>
                    <a:pt x="438912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3015912" y="4100512"/>
            <a:ext cx="3800475" cy="4623435"/>
            <a:chOff x="0" y="0"/>
            <a:chExt cx="5067300" cy="616458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067300" cy="6164580"/>
            </a:xfrm>
            <a:custGeom>
              <a:avLst/>
              <a:gdLst/>
              <a:ahLst/>
              <a:cxnLst/>
              <a:rect r="r" b="b" t="t" l="l"/>
              <a:pathLst>
                <a:path h="6164580" w="5067300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4919853" y="0"/>
                  </a:lnTo>
                  <a:cubicBezTo>
                    <a:pt x="5001260" y="0"/>
                    <a:pt x="5067300" y="66040"/>
                    <a:pt x="5067300" y="147447"/>
                  </a:cubicBezTo>
                  <a:lnTo>
                    <a:pt x="5067300" y="6017133"/>
                  </a:lnTo>
                  <a:cubicBezTo>
                    <a:pt x="5067300" y="6098540"/>
                    <a:pt x="5001260" y="6164580"/>
                    <a:pt x="4919853" y="6164580"/>
                  </a:cubicBezTo>
                  <a:lnTo>
                    <a:pt x="147447" y="6164580"/>
                  </a:lnTo>
                  <a:cubicBezTo>
                    <a:pt x="66040" y="6164580"/>
                    <a:pt x="0" y="6098540"/>
                    <a:pt x="0" y="6017133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333220" y="4526280"/>
            <a:ext cx="1165860" cy="1165860"/>
            <a:chOff x="0" y="0"/>
            <a:chExt cx="1554480" cy="155448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5544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54480">
                  <a:moveTo>
                    <a:pt x="0" y="777240"/>
                  </a:moveTo>
                  <a:cubicBezTo>
                    <a:pt x="0" y="347980"/>
                    <a:pt x="347980" y="0"/>
                    <a:pt x="777240" y="0"/>
                  </a:cubicBezTo>
                  <a:cubicBezTo>
                    <a:pt x="1206500" y="0"/>
                    <a:pt x="1554480" y="347980"/>
                    <a:pt x="1554480" y="777240"/>
                  </a:cubicBezTo>
                  <a:cubicBezTo>
                    <a:pt x="1554480" y="1206500"/>
                    <a:pt x="1206500" y="1554480"/>
                    <a:pt x="777240" y="1554480"/>
                  </a:cubicBezTo>
                  <a:cubicBezTo>
                    <a:pt x="347980" y="1554480"/>
                    <a:pt x="0" y="1206500"/>
                    <a:pt x="0" y="777240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14566392" y="4759452"/>
            <a:ext cx="685800" cy="685800"/>
            <a:chOff x="0" y="0"/>
            <a:chExt cx="914400" cy="914400"/>
          </a:xfrm>
        </p:grpSpPr>
        <p:sp>
          <p:nvSpPr>
            <p:cNvPr name="Freeform 68" id="68" descr="assets/icons/flask_whit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6116300" y="4183380"/>
            <a:ext cx="548640" cy="548640"/>
            <a:chOff x="0" y="0"/>
            <a:chExt cx="731520" cy="73152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3235940" y="5966460"/>
            <a:ext cx="3360420" cy="548640"/>
            <a:chOff x="0" y="0"/>
            <a:chExt cx="4480560" cy="73152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480560" cy="731520"/>
            </a:xfrm>
            <a:custGeom>
              <a:avLst/>
              <a:gdLst/>
              <a:ahLst/>
              <a:cxnLst/>
              <a:rect r="r" b="b" t="t" l="l"/>
              <a:pathLst>
                <a:path h="731520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345" r="0" b="-69345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44805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Pruebas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3304520" y="6556248"/>
            <a:ext cx="3223260" cy="1920240"/>
            <a:chOff x="0" y="0"/>
            <a:chExt cx="4297680" cy="256032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297680" cy="2560320"/>
            </a:xfrm>
            <a:custGeom>
              <a:avLst/>
              <a:gdLst/>
              <a:ahLst/>
              <a:cxnLst/>
              <a:rect r="r" b="b" t="t" l="l"/>
              <a:pathLst>
                <a:path h="2560320" w="4297680">
                  <a:moveTo>
                    <a:pt x="0" y="0"/>
                  </a:moveTo>
                  <a:lnTo>
                    <a:pt x="4297680" y="0"/>
                  </a:lnTo>
                  <a:lnTo>
                    <a:pt x="42976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436" t="0" r="-26436" b="0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57150"/>
              <a:ext cx="4297680" cy="26174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77"/>
                </a:lnSpc>
              </a:pPr>
              <a:r>
                <a:rPr lang="en-US" sz="165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Verificación y correcciones.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79" id="79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61" t="0" r="-661" b="0"/>
              </a:stretch>
            </a:blip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PROPUESTA DE PLANIFICACIÓN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Plan de trabajo: 18 semanas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73894" y="2525554"/>
            <a:ext cx="5240464" cy="1971484"/>
            <a:chOff x="0" y="0"/>
            <a:chExt cx="6987286" cy="262864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BEAE6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987552" y="2702052"/>
            <a:ext cx="4613148" cy="480060"/>
            <a:chOff x="0" y="0"/>
            <a:chExt cx="6150864" cy="6400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1-2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87552" y="3223260"/>
            <a:ext cx="4613148" cy="1056132"/>
            <a:chOff x="0" y="0"/>
            <a:chExt cx="6150864" cy="14081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Levantamiento de requerimientos con Bomberos de San Bernardo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192298" y="2525554"/>
            <a:ext cx="5240464" cy="1971484"/>
            <a:chOff x="0" y="0"/>
            <a:chExt cx="6987286" cy="262864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BEAE6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05956" y="2702052"/>
            <a:ext cx="4613148" cy="480060"/>
            <a:chOff x="0" y="0"/>
            <a:chExt cx="6150864" cy="6400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3-4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505956" y="3223260"/>
            <a:ext cx="4613148" cy="1056132"/>
            <a:chOff x="0" y="0"/>
            <a:chExt cx="6150864" cy="140817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Diseño del modelo de datos (MER)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1710702" y="2525554"/>
            <a:ext cx="5240464" cy="1971484"/>
            <a:chOff x="0" y="0"/>
            <a:chExt cx="6987286" cy="262864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BEAE6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2024360" y="2702052"/>
            <a:ext cx="4613148" cy="480060"/>
            <a:chOff x="0" y="0"/>
            <a:chExt cx="6150864" cy="6400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5-6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2024360" y="3223260"/>
            <a:ext cx="4613148" cy="1056132"/>
            <a:chOff x="0" y="0"/>
            <a:chExt cx="6150864" cy="14081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Arquitectura del sistema y mockups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73894" y="4774978"/>
            <a:ext cx="5240464" cy="1971484"/>
            <a:chOff x="0" y="0"/>
            <a:chExt cx="6987286" cy="262864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87552" y="4951476"/>
            <a:ext cx="4613148" cy="480060"/>
            <a:chOff x="0" y="0"/>
            <a:chExt cx="6150864" cy="6400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7-9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87552" y="5472684"/>
            <a:ext cx="4613148" cy="1056132"/>
            <a:chOff x="0" y="0"/>
            <a:chExt cx="6150864" cy="140817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Desarrollo módulo de inventario (Sprint 1)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192298" y="4774978"/>
            <a:ext cx="5240464" cy="1971484"/>
            <a:chOff x="0" y="0"/>
            <a:chExt cx="6987286" cy="262864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505956" y="4951476"/>
            <a:ext cx="4613148" cy="480060"/>
            <a:chOff x="0" y="0"/>
            <a:chExt cx="6150864" cy="640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10-12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6505956" y="5472684"/>
            <a:ext cx="4613148" cy="1056132"/>
            <a:chOff x="0" y="0"/>
            <a:chExt cx="6150864" cy="140817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Desarrollo módulo de mantenimiento y alertas (Sprint 2)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710702" y="4774978"/>
            <a:ext cx="5240464" cy="1971484"/>
            <a:chOff x="0" y="0"/>
            <a:chExt cx="6987286" cy="262864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12024360" y="4951476"/>
            <a:ext cx="4613148" cy="480060"/>
            <a:chOff x="0" y="0"/>
            <a:chExt cx="6150864" cy="64008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13-14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024360" y="5472684"/>
            <a:ext cx="4613148" cy="1056132"/>
            <a:chOff x="0" y="0"/>
            <a:chExt cx="6150864" cy="140817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Desarrollo módulo de reportes (Sprint 3)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73894" y="7024402"/>
            <a:ext cx="5240464" cy="1971484"/>
            <a:chOff x="0" y="0"/>
            <a:chExt cx="6987286" cy="262864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BEAE6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87552" y="7200900"/>
            <a:ext cx="4613148" cy="480060"/>
            <a:chOff x="0" y="0"/>
            <a:chExt cx="6150864" cy="64008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15-16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987552" y="7722108"/>
            <a:ext cx="4613148" cy="1056132"/>
            <a:chOff x="0" y="0"/>
            <a:chExt cx="6150864" cy="14081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Pruebas integrales y correcciones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6192298" y="7024402"/>
            <a:ext cx="5240464" cy="1971484"/>
            <a:chOff x="0" y="0"/>
            <a:chExt cx="6987286" cy="262864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BEAE6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6505956" y="7200900"/>
            <a:ext cx="4613148" cy="480060"/>
            <a:chOff x="0" y="0"/>
            <a:chExt cx="6150864" cy="64008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17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6505956" y="7722108"/>
            <a:ext cx="4613148" cy="1056132"/>
            <a:chOff x="0" y="0"/>
            <a:chExt cx="6150864" cy="140817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Documentación final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710702" y="7024402"/>
            <a:ext cx="5240464" cy="1971484"/>
            <a:chOff x="0" y="0"/>
            <a:chExt cx="6987286" cy="262864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987286" cy="2628646"/>
            </a:xfrm>
            <a:custGeom>
              <a:avLst/>
              <a:gdLst/>
              <a:ahLst/>
              <a:cxnLst/>
              <a:rect r="r" b="b" t="t" l="l"/>
              <a:pathLst>
                <a:path h="2628646" w="6987286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6857746" y="0"/>
                  </a:lnTo>
                  <a:cubicBezTo>
                    <a:pt x="6929374" y="0"/>
                    <a:pt x="6987286" y="58039"/>
                    <a:pt x="6987286" y="129540"/>
                  </a:cubicBezTo>
                  <a:lnTo>
                    <a:pt x="6987286" y="2499106"/>
                  </a:lnTo>
                  <a:cubicBezTo>
                    <a:pt x="6987286" y="2570734"/>
                    <a:pt x="6929247" y="2628646"/>
                    <a:pt x="6857746" y="2628646"/>
                  </a:cubicBezTo>
                  <a:lnTo>
                    <a:pt x="129540" y="2628646"/>
                  </a:lnTo>
                  <a:cubicBezTo>
                    <a:pt x="57912" y="2628646"/>
                    <a:pt x="0" y="2570607"/>
                    <a:pt x="0" y="2499106"/>
                  </a:cubicBezTo>
                  <a:close/>
                </a:path>
              </a:pathLst>
            </a:custGeom>
            <a:solidFill>
              <a:srgbClr val="FBEAE6"/>
            </a:solidFill>
            <a:ln w="23812" cap="sq">
              <a:solidFill>
                <a:srgbClr val="FBEAE6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12024360" y="7200900"/>
            <a:ext cx="4613148" cy="480060"/>
            <a:chOff x="0" y="0"/>
            <a:chExt cx="6150864" cy="64008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6150864" cy="640080"/>
            </a:xfrm>
            <a:custGeom>
              <a:avLst/>
              <a:gdLst/>
              <a:ahLst/>
              <a:cxnLst/>
              <a:rect r="r" b="b" t="t" l="l"/>
              <a:pathLst>
                <a:path h="640080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241" r="0" b="-137241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38100"/>
              <a:ext cx="615086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75">
                  <a:solidFill>
                    <a:srgbClr val="9C3B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SEMANA 18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2024360" y="7722108"/>
            <a:ext cx="4613148" cy="1056132"/>
            <a:chOff x="0" y="0"/>
            <a:chExt cx="6150864" cy="1408176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150864" cy="1408176"/>
            </a:xfrm>
            <a:custGeom>
              <a:avLst/>
              <a:gdLst/>
              <a:ahLst/>
              <a:cxnLst/>
              <a:rect r="r" b="b" t="t" l="l"/>
              <a:pathLst>
                <a:path h="1408176" w="6150864">
                  <a:moveTo>
                    <a:pt x="0" y="0"/>
                  </a:moveTo>
                  <a:lnTo>
                    <a:pt x="6150864" y="0"/>
                  </a:lnTo>
                  <a:lnTo>
                    <a:pt x="6150864" y="1408176"/>
                  </a:lnTo>
                  <a:lnTo>
                    <a:pt x="0" y="14081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9" r="0" b="-35109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76200"/>
              <a:ext cx="6150864" cy="1484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Presentación y entrega del proyecto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82" id="82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61" t="0" r="-661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0C9B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SOLUCIÓN Y RESULTADOS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Sistema Digital Centralizado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400300"/>
            <a:ext cx="7680960" cy="480060"/>
            <a:chOff x="0" y="0"/>
            <a:chExt cx="1024128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41280" cy="640080"/>
            </a:xfrm>
            <a:custGeom>
              <a:avLst/>
              <a:gdLst/>
              <a:ahLst/>
              <a:cxnLst/>
              <a:rect r="r" b="b" t="t" l="l"/>
              <a:pathLst>
                <a:path h="64008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1760" r="0" b="-26176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024128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25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LA SOLUCIÓN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85800" y="2948940"/>
            <a:ext cx="7680960" cy="1371600"/>
            <a:chOff x="0" y="0"/>
            <a:chExt cx="10241280" cy="1828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2412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116" r="0" b="-59116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04775"/>
              <a:ext cx="10241280" cy="1933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25"/>
                </a:lnSpc>
              </a:pPr>
              <a:r>
                <a:rPr lang="en-US" sz="1950">
                  <a:solidFill>
                    <a:srgbClr val="F5DCC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Plataforma que centraliza equipos y mantenimientos, con alertas y reportes.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4869180"/>
            <a:ext cx="493776" cy="493776"/>
            <a:chOff x="0" y="0"/>
            <a:chExt cx="658368" cy="658368"/>
          </a:xfrm>
        </p:grpSpPr>
        <p:sp>
          <p:nvSpPr>
            <p:cNvPr name="Freeform 16" id="16" descr="assets/icons/database_blue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40180" y="4786884"/>
            <a:ext cx="6926580" cy="685800"/>
            <a:chOff x="0" y="0"/>
            <a:chExt cx="9235440" cy="914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235440" cy="914400"/>
            </a:xfrm>
            <a:custGeom>
              <a:avLst/>
              <a:gdLst/>
              <a:ahLst/>
              <a:cxnLst/>
              <a:rect r="r" b="b" t="t" l="l"/>
              <a:pathLst>
                <a:path h="91440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798" r="0" b="-14679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23544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Base de datos de equipos y unidades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85800" y="5856732"/>
            <a:ext cx="493776" cy="493776"/>
            <a:chOff x="0" y="0"/>
            <a:chExt cx="658368" cy="658368"/>
          </a:xfrm>
        </p:grpSpPr>
        <p:sp>
          <p:nvSpPr>
            <p:cNvPr name="Freeform 21" id="21" descr="assets/icons/bell_blue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440180" y="5774436"/>
            <a:ext cx="6926580" cy="685800"/>
            <a:chOff x="0" y="0"/>
            <a:chExt cx="9235440" cy="914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235440" cy="914400"/>
            </a:xfrm>
            <a:custGeom>
              <a:avLst/>
              <a:gdLst/>
              <a:ahLst/>
              <a:cxnLst/>
              <a:rect r="r" b="b" t="t" l="l"/>
              <a:pathLst>
                <a:path h="91440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798" r="0" b="-146798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923544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Alertas de mantenimiento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685800" y="6844284"/>
            <a:ext cx="493776" cy="493776"/>
            <a:chOff x="0" y="0"/>
            <a:chExt cx="658368" cy="658368"/>
          </a:xfrm>
        </p:grpSpPr>
        <p:sp>
          <p:nvSpPr>
            <p:cNvPr name="Freeform 26" id="26" descr="assets/icons/chart_line_blue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40180" y="6761988"/>
            <a:ext cx="6926580" cy="685800"/>
            <a:chOff x="0" y="0"/>
            <a:chExt cx="9235440" cy="9144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235440" cy="914400"/>
            </a:xfrm>
            <a:custGeom>
              <a:avLst/>
              <a:gdLst/>
              <a:ahLst/>
              <a:cxnLst/>
              <a:rect r="r" b="b" t="t" l="l"/>
              <a:pathLst>
                <a:path h="91440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798" r="0" b="-146798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923544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Reportes para decisiones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 rot="5390280">
            <a:off x="5710037" y="5755958"/>
            <a:ext cx="6739919" cy="0"/>
          </a:xfrm>
          <a:prstGeom prst="line">
            <a:avLst/>
          </a:prstGeom>
          <a:ln cap="rnd" w="9525">
            <a:solidFill>
              <a:srgbClr val="FFFFFF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1" id="31"/>
          <p:cNvGrpSpPr/>
          <p:nvPr/>
        </p:nvGrpSpPr>
        <p:grpSpPr>
          <a:xfrm rot="0">
            <a:off x="9532620" y="2400300"/>
            <a:ext cx="8092440" cy="480060"/>
            <a:chOff x="0" y="0"/>
            <a:chExt cx="10789920" cy="6400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89920" cy="640080"/>
            </a:xfrm>
            <a:custGeom>
              <a:avLst/>
              <a:gdLst/>
              <a:ahLst/>
              <a:cxnLst/>
              <a:rect r="r" b="b" t="t" l="l"/>
              <a:pathLst>
                <a:path h="640080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8462" r="0" b="-278462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789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25">
                  <a:solidFill>
                    <a:srgbClr val="D9A44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RESULTADOS ESPERADOS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532620" y="3086100"/>
            <a:ext cx="850392" cy="850392"/>
            <a:chOff x="0" y="0"/>
            <a:chExt cx="1133856" cy="11338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9752076" y="3305556"/>
            <a:ext cx="411480" cy="411480"/>
            <a:chOff x="0" y="0"/>
            <a:chExt cx="548640" cy="548640"/>
          </a:xfrm>
        </p:grpSpPr>
        <p:sp>
          <p:nvSpPr>
            <p:cNvPr name="Freeform 37" id="37" descr="assets/icons/boxes_stacked_nav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0629900" y="3044952"/>
            <a:ext cx="6926580" cy="548640"/>
            <a:chOff x="0" y="0"/>
            <a:chExt cx="923544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235440" cy="731520"/>
            </a:xfrm>
            <a:custGeom>
              <a:avLst/>
              <a:gdLst/>
              <a:ahLst/>
              <a:cxnLst/>
              <a:rect r="r" b="b" t="t" l="l"/>
              <a:pathLst>
                <a:path h="73152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998" r="0" b="-195998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92354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Centralización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629900" y="3579876"/>
            <a:ext cx="6995160" cy="822960"/>
            <a:chOff x="0" y="0"/>
            <a:chExt cx="9326880" cy="1097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3268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2" r="0" b="-115622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932688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68"/>
                </a:lnSpc>
              </a:pPr>
              <a:r>
                <a:rPr lang="en-US" sz="1575">
                  <a:solidFill>
                    <a:srgbClr val="DCE5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Toda la información en una sola fuente.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532620" y="5143500"/>
            <a:ext cx="850392" cy="850392"/>
            <a:chOff x="0" y="0"/>
            <a:chExt cx="1133856" cy="11338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9752076" y="5362956"/>
            <a:ext cx="411480" cy="411480"/>
            <a:chOff x="0" y="0"/>
            <a:chExt cx="548640" cy="548640"/>
          </a:xfrm>
        </p:grpSpPr>
        <p:sp>
          <p:nvSpPr>
            <p:cNvPr name="Freeform 47" id="47" descr="assets/icons/rotate_nav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0629900" y="5102352"/>
            <a:ext cx="6926580" cy="548640"/>
            <a:chOff x="0" y="0"/>
            <a:chExt cx="9235440" cy="7315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235440" cy="731520"/>
            </a:xfrm>
            <a:custGeom>
              <a:avLst/>
              <a:gdLst/>
              <a:ahLst/>
              <a:cxnLst/>
              <a:rect r="r" b="b" t="t" l="l"/>
              <a:pathLst>
                <a:path h="73152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998" r="0" b="-195998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92354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Trazabilidad total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0629900" y="5637276"/>
            <a:ext cx="6995160" cy="822960"/>
            <a:chOff x="0" y="0"/>
            <a:chExt cx="9326880" cy="109728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3268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2" r="0" b="-115622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57150"/>
              <a:ext cx="932688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68"/>
                </a:lnSpc>
              </a:pPr>
              <a:r>
                <a:rPr lang="en-US" sz="1575">
                  <a:solidFill>
                    <a:srgbClr val="DCE5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Historial claro de mantenimientos.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532620" y="7200900"/>
            <a:ext cx="850392" cy="850392"/>
            <a:chOff x="0" y="0"/>
            <a:chExt cx="1133856" cy="11338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9752076" y="7420356"/>
            <a:ext cx="411480" cy="411480"/>
            <a:chOff x="0" y="0"/>
            <a:chExt cx="548640" cy="548640"/>
          </a:xfrm>
        </p:grpSpPr>
        <p:sp>
          <p:nvSpPr>
            <p:cNvPr name="Freeform 57" id="57" descr="assets/icons/arrow_trend_up_nav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629900" y="7159752"/>
            <a:ext cx="6926580" cy="548640"/>
            <a:chOff x="0" y="0"/>
            <a:chExt cx="9235440" cy="7315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235440" cy="731520"/>
            </a:xfrm>
            <a:custGeom>
              <a:avLst/>
              <a:gdLst/>
              <a:ahLst/>
              <a:cxnLst/>
              <a:rect r="r" b="b" t="t" l="l"/>
              <a:pathLst>
                <a:path h="73152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998" r="0" b="-195998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92354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Mayor eficiencia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629900" y="7694676"/>
            <a:ext cx="6995160" cy="822960"/>
            <a:chOff x="0" y="0"/>
            <a:chExt cx="9326880" cy="109728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3268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2" r="0" b="-115622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57150"/>
              <a:ext cx="932688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68"/>
                </a:lnSpc>
              </a:pPr>
              <a:r>
                <a:rPr lang="en-US" sz="1575">
                  <a:solidFill>
                    <a:srgbClr val="DCE5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Equipos y vehículos siempre operativos.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65" id="65" descr="assets/duocuc_logo_white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661" t="0" r="-661" b="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08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EVIDENCIAS Y ENTREGABLES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Evidencias por sprint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5800" y="2674620"/>
            <a:ext cx="7886700" cy="2880360"/>
            <a:chOff x="0" y="0"/>
            <a:chExt cx="10515600" cy="38404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97280" y="3086100"/>
            <a:ext cx="891540" cy="891540"/>
            <a:chOff x="0" y="0"/>
            <a:chExt cx="1188720" cy="11887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330452" y="3319272"/>
            <a:ext cx="438912" cy="438912"/>
            <a:chOff x="0" y="0"/>
            <a:chExt cx="585216" cy="585216"/>
          </a:xfrm>
        </p:grpSpPr>
        <p:sp>
          <p:nvSpPr>
            <p:cNvPr name="Freeform 14" id="14" descr="assets/icons/layer_group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194560" y="3017520"/>
            <a:ext cx="6035040" cy="685800"/>
            <a:chOff x="0" y="0"/>
            <a:chExt cx="8046720" cy="9144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804672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Sprint 1 — Inventario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97280" y="4114800"/>
            <a:ext cx="7132320" cy="1303020"/>
            <a:chOff x="0" y="0"/>
            <a:chExt cx="9509760" cy="17373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Arquitectura, MER, mockups y módulo funcional.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915400" y="2674620"/>
            <a:ext cx="7886700" cy="2880360"/>
            <a:chOff x="0" y="0"/>
            <a:chExt cx="10515600" cy="3840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326880" y="3086100"/>
            <a:ext cx="891540" cy="891540"/>
            <a:chOff x="0" y="0"/>
            <a:chExt cx="1188720" cy="11887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560052" y="3319272"/>
            <a:ext cx="438912" cy="438912"/>
            <a:chOff x="0" y="0"/>
            <a:chExt cx="585216" cy="585216"/>
          </a:xfrm>
        </p:grpSpPr>
        <p:sp>
          <p:nvSpPr>
            <p:cNvPr name="Freeform 26" id="26" descr="assets/icons/bell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3017520"/>
            <a:ext cx="6035040" cy="685800"/>
            <a:chOff x="0" y="0"/>
            <a:chExt cx="8046720" cy="9144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804672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Sprint 2 — Mantenimiento y Alertas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326880" y="4114800"/>
            <a:ext cx="7132320" cy="1303020"/>
            <a:chOff x="0" y="0"/>
            <a:chExt cx="950976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Módulo funcional y notificaciones.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85800" y="5897880"/>
            <a:ext cx="7886700" cy="2880360"/>
            <a:chOff x="0" y="0"/>
            <a:chExt cx="10515600" cy="38404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97280" y="6309360"/>
            <a:ext cx="891540" cy="891540"/>
            <a:chOff x="0" y="0"/>
            <a:chExt cx="1188720" cy="11887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330452" y="6542532"/>
            <a:ext cx="438912" cy="438912"/>
            <a:chOff x="0" y="0"/>
            <a:chExt cx="585216" cy="585216"/>
          </a:xfrm>
        </p:grpSpPr>
        <p:sp>
          <p:nvSpPr>
            <p:cNvPr name="Freeform 38" id="38" descr="assets/icons/chart_line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2194560" y="6240780"/>
            <a:ext cx="6035040" cy="685800"/>
            <a:chOff x="0" y="0"/>
            <a:chExt cx="8046720" cy="9144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47625"/>
              <a:ext cx="804672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Sprint 3 — Reportes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7338060"/>
            <a:ext cx="7132320" cy="1303020"/>
            <a:chOff x="0" y="0"/>
            <a:chExt cx="9509760" cy="17373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Módulo de reportes y pruebas.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8915400" y="5897880"/>
            <a:ext cx="7886700" cy="2880360"/>
            <a:chOff x="0" y="0"/>
            <a:chExt cx="10515600" cy="38404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515600" cy="3840480"/>
            </a:xfrm>
            <a:custGeom>
              <a:avLst/>
              <a:gdLst/>
              <a:ahLst/>
              <a:cxnLst/>
              <a:rect r="r" b="b" t="t" l="l"/>
              <a:pathLst>
                <a:path h="384048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3694176"/>
                  </a:lnTo>
                  <a:cubicBezTo>
                    <a:pt x="10515600" y="3774948"/>
                    <a:pt x="10450068" y="3840480"/>
                    <a:pt x="10369296" y="3840480"/>
                  </a:cubicBezTo>
                  <a:lnTo>
                    <a:pt x="146304" y="3840480"/>
                  </a:lnTo>
                  <a:cubicBezTo>
                    <a:pt x="65532" y="3840480"/>
                    <a:pt x="0" y="3774948"/>
                    <a:pt x="0" y="3694176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9326880" y="6309360"/>
            <a:ext cx="891540" cy="891540"/>
            <a:chOff x="0" y="0"/>
            <a:chExt cx="1188720" cy="11887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9560052" y="6542532"/>
            <a:ext cx="438912" cy="438912"/>
            <a:chOff x="0" y="0"/>
            <a:chExt cx="585216" cy="585216"/>
          </a:xfrm>
        </p:grpSpPr>
        <p:sp>
          <p:nvSpPr>
            <p:cNvPr name="Freeform 50" id="50" descr="assets/icons/clipboard_check_white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0424160" y="6240780"/>
            <a:ext cx="6035040" cy="685800"/>
            <a:chOff x="0" y="0"/>
            <a:chExt cx="8046720" cy="9144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046720" cy="914400"/>
            </a:xfrm>
            <a:custGeom>
              <a:avLst/>
              <a:gdLst/>
              <a:ahLst/>
              <a:cxnLst/>
              <a:rect r="r" b="b" t="t" l="l"/>
              <a:pathLst>
                <a:path h="91440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1468" r="0" b="-12146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47625"/>
              <a:ext cx="804672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A1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Cierre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326880" y="7338060"/>
            <a:ext cx="7132320" cy="1303020"/>
            <a:chOff x="0" y="0"/>
            <a:chExt cx="9509760" cy="173736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5097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654" r="0" b="-5665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76200"/>
              <a:ext cx="95097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4"/>
                </a:lnSpc>
              </a:pPr>
              <a:r>
                <a:rPr lang="en-US" sz="1725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Documentación final del proyecto.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58" id="58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61" t="0" r="-661" b="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6024403" y="8023860"/>
            <a:ext cx="3154680" cy="3154680"/>
            <a:chOff x="0" y="0"/>
            <a:chExt cx="4206240" cy="42062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06240" cy="4206240"/>
            </a:xfrm>
            <a:custGeom>
              <a:avLst/>
              <a:gdLst/>
              <a:ahLst/>
              <a:cxnLst/>
              <a:rect r="r" b="b" t="t" l="l"/>
              <a:pathLst>
                <a:path h="420624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7533163" y="6515100"/>
            <a:ext cx="1783080" cy="1783080"/>
            <a:chOff x="0" y="0"/>
            <a:chExt cx="2377440" cy="23774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77440" cy="2377440"/>
            </a:xfrm>
            <a:custGeom>
              <a:avLst/>
              <a:gdLst/>
              <a:ahLst/>
              <a:cxnLst/>
              <a:rect r="r" b="b" t="t" l="l"/>
              <a:pathLst>
                <a:path h="237744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FFFFFF">
                <a:alpha val="117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2700000">
            <a:off x="-1165860" y="-1165860"/>
            <a:ext cx="2331720" cy="2331720"/>
            <a:chOff x="0" y="0"/>
            <a:chExt cx="3108960" cy="31089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08960" cy="3108960"/>
            </a:xfrm>
            <a:custGeom>
              <a:avLst/>
              <a:gdLst/>
              <a:ahLst/>
              <a:cxnLst/>
              <a:rect r="r" b="b" t="t" l="l"/>
              <a:pathLst>
                <a:path h="310896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108960"/>
                  </a:lnTo>
                  <a:lnTo>
                    <a:pt x="0" y="3108960"/>
                  </a:lnTo>
                  <a:close/>
                </a:path>
              </a:pathLst>
            </a:custGeom>
            <a:solidFill>
              <a:srgbClr val="D9A441">
                <a:alpha val="20000"/>
              </a:srgbClr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09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0C9B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CONCLUSIÓN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234440" y="2606040"/>
            <a:ext cx="822960" cy="822960"/>
            <a:chOff x="0" y="0"/>
            <a:chExt cx="1097280" cy="1097280"/>
          </a:xfrm>
        </p:grpSpPr>
        <p:sp>
          <p:nvSpPr>
            <p:cNvPr name="Freeform 11" id="11" descr="assets/icons/quote_blue.png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34440" y="3634740"/>
            <a:ext cx="15087600" cy="2468880"/>
            <a:chOff x="0" y="0"/>
            <a:chExt cx="20116800" cy="32918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9075" r="0" b="-6907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42875"/>
              <a:ext cx="20116800" cy="3434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616"/>
                </a:lnSpc>
              </a:pPr>
              <a:r>
                <a:rPr lang="en-US" sz="3600" i="true">
                  <a:solidFill>
                    <a:srgbClr val="FFFFFF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Un alcance acotado y realista demuestra que una solución individual puede responder a una necesidad institucional real.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77760">
            <a:off x="1278941" y="7049453"/>
            <a:ext cx="2105568" cy="0"/>
          </a:xfrm>
          <a:prstGeom prst="line">
            <a:avLst/>
          </a:prstGeom>
          <a:ln cap="rnd" w="28575">
            <a:solidFill>
              <a:srgbClr val="D9A44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1303020" y="7269480"/>
            <a:ext cx="8229600" cy="548640"/>
            <a:chOff x="0" y="0"/>
            <a:chExt cx="10972800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731520"/>
            </a:xfrm>
            <a:custGeom>
              <a:avLst/>
              <a:gdLst/>
              <a:ahLst/>
              <a:cxnLst/>
              <a:rect r="r" b="b" t="t" l="l"/>
              <a:pathLst>
                <a:path h="73152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0C9B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Conclusión del Proyecto APT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20" id="20" descr="assets/duocuc_logo_white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61" t="0" r="-661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7533163" y="-754380"/>
            <a:ext cx="2057400" cy="2057400"/>
            <a:chOff x="0" y="0"/>
            <a:chExt cx="2743200" cy="274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32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8A1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6710203" y="754380"/>
            <a:ext cx="1028700" cy="1028700"/>
            <a:chOff x="0" y="0"/>
            <a:chExt cx="1371600" cy="137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77240" y="621792"/>
            <a:ext cx="640080" cy="594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D9A441"/>
                </a:solidFill>
                <a:latin typeface="Cambria Bold"/>
                <a:ea typeface="Cambria Bold"/>
                <a:cs typeface="Cambria Bold"/>
                <a:sym typeface="Cambria Bold"/>
              </a:rPr>
              <a:t>10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620" y="693420"/>
            <a:ext cx="1078992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6B728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REFLEXIÓN PERSONAL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77240" y="1192530"/>
            <a:ext cx="1559052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8A1D16"/>
                </a:solidFill>
                <a:latin typeface="Cambria Bold"/>
                <a:ea typeface="Cambria Bold"/>
                <a:cs typeface="Cambria Bold"/>
                <a:sym typeface="Cambria Bold"/>
              </a:rPr>
              <a:t>Aplicar el perfil de egreso en un desafío individual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51510" y="3147822"/>
            <a:ext cx="891540" cy="891540"/>
            <a:chOff x="0" y="0"/>
            <a:chExt cx="1188720" cy="11887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884682" y="3380994"/>
            <a:ext cx="438912" cy="438912"/>
            <a:chOff x="0" y="0"/>
            <a:chExt cx="585216" cy="585216"/>
          </a:xfrm>
        </p:grpSpPr>
        <p:sp>
          <p:nvSpPr>
            <p:cNvPr name="Freeform 12" id="12" descr="assets/icons/bullseye_navy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851660" y="2702052"/>
            <a:ext cx="14813280" cy="1783080"/>
            <a:chOff x="0" y="0"/>
            <a:chExt cx="19751040" cy="23774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751039" cy="2377440"/>
            </a:xfrm>
            <a:custGeom>
              <a:avLst/>
              <a:gdLst/>
              <a:ahLst/>
              <a:cxnLst/>
              <a:rect r="r" b="b" t="t" l="l"/>
              <a:pathLst>
                <a:path h="237744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1875" r="0" b="-11187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04775"/>
              <a:ext cx="19751040" cy="2482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1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Definir límites de alcance fue clave para hacerlo viable en solitario.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51510" y="5273802"/>
            <a:ext cx="891540" cy="891540"/>
            <a:chOff x="0" y="0"/>
            <a:chExt cx="1188720" cy="11887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84682" y="5506974"/>
            <a:ext cx="438912" cy="438912"/>
            <a:chOff x="0" y="0"/>
            <a:chExt cx="585216" cy="585216"/>
          </a:xfrm>
        </p:grpSpPr>
        <p:sp>
          <p:nvSpPr>
            <p:cNvPr name="Freeform 19" id="19" descr="assets/icons/users_gear_navy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851660" y="4828032"/>
            <a:ext cx="14813280" cy="1783080"/>
            <a:chOff x="0" y="0"/>
            <a:chExt cx="19751040" cy="23774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751039" cy="2377440"/>
            </a:xfrm>
            <a:custGeom>
              <a:avLst/>
              <a:gdLst/>
              <a:ahLst/>
              <a:cxnLst/>
              <a:rect r="r" b="b" t="t" l="l"/>
              <a:pathLst>
                <a:path h="237744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1875" r="0" b="-11187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04775"/>
              <a:ext cx="19751040" cy="2482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1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 mayor desafío: autogestión del tiempo y priorización.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" y="7399782"/>
            <a:ext cx="891540" cy="891540"/>
            <a:chOff x="0" y="0"/>
            <a:chExt cx="1188720" cy="11887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88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88720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932688" y="0"/>
                  </a:lnTo>
                  <a:cubicBezTo>
                    <a:pt x="1074039" y="0"/>
                    <a:pt x="1188720" y="114681"/>
                    <a:pt x="1188720" y="256032"/>
                  </a:cubicBezTo>
                  <a:lnTo>
                    <a:pt x="1188720" y="932688"/>
                  </a:lnTo>
                  <a:cubicBezTo>
                    <a:pt x="1188720" y="1074039"/>
                    <a:pt x="1074039" y="1188720"/>
                    <a:pt x="932688" y="1188720"/>
                  </a:cubicBezTo>
                  <a:lnTo>
                    <a:pt x="256032" y="1188720"/>
                  </a:lnTo>
                  <a:cubicBezTo>
                    <a:pt x="114681" y="1188720"/>
                    <a:pt x="0" y="1074039"/>
                    <a:pt x="0" y="932688"/>
                  </a:cubicBezTo>
                  <a:close/>
                </a:path>
              </a:pathLst>
            </a:custGeom>
            <a:solidFill>
              <a:srgbClr val="FBEAE6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84682" y="7632954"/>
            <a:ext cx="438912" cy="438912"/>
            <a:chOff x="0" y="0"/>
            <a:chExt cx="585216" cy="585216"/>
          </a:xfrm>
        </p:grpSpPr>
        <p:sp>
          <p:nvSpPr>
            <p:cNvPr name="Freeform 26" id="26" descr="assets/icons/graduation_navy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851660" y="6954012"/>
            <a:ext cx="14813280" cy="1783080"/>
            <a:chOff x="0" y="0"/>
            <a:chExt cx="19751040" cy="23774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751039" cy="2377440"/>
            </a:xfrm>
            <a:custGeom>
              <a:avLst/>
              <a:gdLst/>
              <a:ahLst/>
              <a:cxnLst/>
              <a:rect r="r" b="b" t="t" l="l"/>
              <a:pathLst>
                <a:path h="237744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1875" r="0" b="-111875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04775"/>
              <a:ext cx="19751040" cy="2482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100">
                  <a:solidFill>
                    <a:srgbClr val="3D3D4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Oportunidad para fortalecer bases de datos, programación y gestión de proyectos.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480060" y="9601200"/>
            <a:ext cx="1371600" cy="384048"/>
            <a:chOff x="0" y="0"/>
            <a:chExt cx="1828800" cy="512064"/>
          </a:xfrm>
        </p:grpSpPr>
        <p:sp>
          <p:nvSpPr>
            <p:cNvPr name="Freeform 31" id="31" descr="assets/duocuc_logo.png"/>
            <p:cNvSpPr/>
            <p:nvPr/>
          </p:nvSpPr>
          <p:spPr>
            <a:xfrm flipH="false" flipV="false" rot="0">
              <a:off x="0" y="0"/>
              <a:ext cx="1828800" cy="512064"/>
            </a:xfrm>
            <a:custGeom>
              <a:avLst/>
              <a:gdLst/>
              <a:ahLst/>
              <a:cxnLst/>
              <a:rect r="r" b="b" t="t" l="l"/>
              <a:pathLst>
                <a:path h="512064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661" t="0" r="-661" b="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7327423" y="9601200"/>
            <a:ext cx="548640" cy="384048"/>
            <a:chOff x="0" y="0"/>
            <a:chExt cx="731520" cy="51206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3152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00000">
            <a:off x="16024403" y="8023860"/>
            <a:ext cx="3154680" cy="3154680"/>
            <a:chOff x="0" y="0"/>
            <a:chExt cx="4206240" cy="42062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06240" cy="4206240"/>
            </a:xfrm>
            <a:custGeom>
              <a:avLst/>
              <a:gdLst/>
              <a:ahLst/>
              <a:cxnLst/>
              <a:rect r="r" b="b" t="t" l="l"/>
              <a:pathLst>
                <a:path h="420624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D9A441"/>
            </a:solidFill>
          </p:spPr>
        </p:sp>
      </p:grpSp>
      <p:grpSp>
        <p:nvGrpSpPr>
          <p:cNvPr name="Group 4" id="4"/>
          <p:cNvGrpSpPr/>
          <p:nvPr/>
        </p:nvGrpSpPr>
        <p:grpSpPr>
          <a:xfrm rot="2700000">
            <a:off x="17533163" y="6515100"/>
            <a:ext cx="1783080" cy="1783080"/>
            <a:chOff x="0" y="0"/>
            <a:chExt cx="2377440" cy="23774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77440" cy="2377440"/>
            </a:xfrm>
            <a:custGeom>
              <a:avLst/>
              <a:gdLst/>
              <a:ahLst/>
              <a:cxnLst/>
              <a:rect r="r" b="b" t="t" l="l"/>
              <a:pathLst>
                <a:path h="237744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FFFFFF">
                <a:alpha val="117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2700000">
            <a:off x="-1165860" y="-1165860"/>
            <a:ext cx="2331720" cy="2331720"/>
            <a:chOff x="0" y="0"/>
            <a:chExt cx="3108960" cy="31089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08960" cy="3108960"/>
            </a:xfrm>
            <a:custGeom>
              <a:avLst/>
              <a:gdLst/>
              <a:ahLst/>
              <a:cxnLst/>
              <a:rect r="r" b="b" t="t" l="l"/>
              <a:pathLst>
                <a:path h="310896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108960"/>
                  </a:lnTo>
                  <a:lnTo>
                    <a:pt x="0" y="3108960"/>
                  </a:lnTo>
                  <a:close/>
                </a:path>
              </a:pathLst>
            </a:custGeom>
            <a:solidFill>
              <a:srgbClr val="D9A441">
                <a:alpha val="2000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34440" y="3977640"/>
            <a:ext cx="13716000" cy="1508760"/>
            <a:chOff x="0" y="0"/>
            <a:chExt cx="18288000" cy="2011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88000" cy="2011680"/>
            </a:xfrm>
            <a:custGeom>
              <a:avLst/>
              <a:gdLst/>
              <a:ahLst/>
              <a:cxnLst/>
              <a:rect r="r" b="b" t="t" l="l"/>
              <a:pathLst>
                <a:path h="201168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136" r="0" b="-127136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8288000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¿Preguntas?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03020" y="5417820"/>
            <a:ext cx="12344400" cy="685800"/>
            <a:chOff x="0" y="0"/>
            <a:chExt cx="16459200" cy="9144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459200" cy="914400"/>
            </a:xfrm>
            <a:custGeom>
              <a:avLst/>
              <a:gdLst/>
              <a:ahLst/>
              <a:cxnLst/>
              <a:rect r="r" b="b" t="t" l="l"/>
              <a:pathLst>
                <a:path h="91440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730" r="0" b="-30073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645920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2D9C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Muchas gracias por su tiempo y atención.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 rot="77760">
            <a:off x="1278941" y="6363653"/>
            <a:ext cx="2105568" cy="0"/>
          </a:xfrm>
          <a:prstGeom prst="line">
            <a:avLst/>
          </a:prstGeom>
          <a:ln cap="rnd" w="28575">
            <a:solidFill>
              <a:srgbClr val="D9A44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1303020" y="6583680"/>
            <a:ext cx="10972800" cy="480060"/>
            <a:chOff x="0" y="0"/>
            <a:chExt cx="14630400" cy="640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Benjamín Andrés Sandoval Robles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03020" y="7036308"/>
            <a:ext cx="10972800" cy="480060"/>
            <a:chOff x="0" y="0"/>
            <a:chExt cx="14630400" cy="640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46304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F0C9B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Ingeniería en Informática · Duoc UC San Bernardo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4440" y="9436608"/>
            <a:ext cx="1577340" cy="438912"/>
            <a:chOff x="0" y="0"/>
            <a:chExt cx="2103120" cy="585216"/>
          </a:xfrm>
        </p:grpSpPr>
        <p:sp>
          <p:nvSpPr>
            <p:cNvPr name="Freeform 22" id="22" descr="assets/duocuc_logo_white.png"/>
            <p:cNvSpPr/>
            <p:nvPr/>
          </p:nvSpPr>
          <p:spPr>
            <a:xfrm flipH="false" flipV="false" rot="0">
              <a:off x="0" y="0"/>
              <a:ext cx="2103120" cy="585216"/>
            </a:xfrm>
            <a:custGeom>
              <a:avLst/>
              <a:gdLst/>
              <a:ahLst/>
              <a:cxnLst/>
              <a:rect r="r" b="b" t="t" l="l"/>
              <a:pathLst>
                <a:path h="585216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DAHUu-MQwjk</dc:identifier>
  <dcterms:modified xsi:type="dcterms:W3CDTF">2011-08-01T06:04:30Z</dcterms:modified>
  <cp:revision>1</cp:revision>
  <dc:title>Presentacion_Proyecto_APT_Bomberos_San_Bernardo_Sandoval.pptx</dc:title>
</cp:coreProperties>
</file>
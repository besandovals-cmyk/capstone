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237" y="4070895"/>
            <a:ext cx="3819525" cy="13561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95437" y="1430833"/>
            <a:ext cx="9001125" cy="1340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0F172A"/>
                </a:solidFill>
                <a:latin typeface="Poppins"/>
              </a:rPr>
              <a:t>Sistema de Gestión para Bomberos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2962275"/>
            <a:ext cx="857250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64748B"/>
                </a:solidFill>
                <a:latin typeface="Lato"/>
              </a:rPr>
              <a:t>Inventario y Mantenimiento de Equipos y Unidades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05337" y="4261395"/>
            <a:ext cx="30194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Estudiante: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Benjamín Andrés Sandoval Robles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05337" y="4505176"/>
            <a:ext cx="30194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Docente: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Eliana Mallén González González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5337" y="4748956"/>
            <a:ext cx="30194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Carrera: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Ingeniería en Informática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5337" y="4992737"/>
            <a:ext cx="30194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Sede: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San Bernardo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166937"/>
            <a:ext cx="523875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166937"/>
            <a:ext cx="52387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El proyecto surge de la necesidad de modernizar y mejorar la gestión organizativa dentro de la institución de </a:t>
            </a:r>
            <a:r>
              <a:rPr b="1" sz="1350" i="0" u="none">
                <a:solidFill>
                  <a:srgbClr val="334155"/>
                </a:solidFill>
                <a:latin typeface="Lato"/>
              </a:rPr>
              <a:t>Bomberos de San Bernardo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858392"/>
            <a:ext cx="52387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La propuesta consiste en desarrollar una solución informática robusta que permita centralizar y mantener actualizados los registros asociados 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3824138"/>
            <a:ext cx="500062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El inventario de equipos disponibles para el servicio.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4288928"/>
            <a:ext cx="500062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Las actividades de mantenimiento realizadas a las unidades móviles.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4753719"/>
            <a:ext cx="500062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El historial y disponibilidad de los recursos de la institución.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2166937"/>
            <a:ext cx="5238750" cy="3619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3843188"/>
            <a:ext cx="666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0" sz="900" i="0" u="none">
                <a:solidFill>
                  <a:srgbClr val="DC2626"/>
                </a:solidFill>
                <a:latin typeface="Lato"/>
              </a:rPr>
              <a:t>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307978"/>
            <a:ext cx="666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0" sz="900" i="0" u="none">
                <a:solidFill>
                  <a:srgbClr val="DC2626"/>
                </a:solidFill>
                <a:latin typeface="Lato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72769"/>
            <a:ext cx="666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0" sz="900" i="0" u="none">
                <a:solidFill>
                  <a:srgbClr val="DC2626"/>
                </a:solidFill>
                <a:latin typeface="Lato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0F172A"/>
                </a:solidFill>
                <a:latin typeface="Poppins SemiBold"/>
              </a:rPr>
              <a:t>1. Introducción al Proyecto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362075"/>
            <a:ext cx="5715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66107"/>
            <a:ext cx="5334000" cy="26211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666107"/>
            <a:ext cx="5334000" cy="2621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2500" y="3085207"/>
            <a:ext cx="48006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250" i="0" u="none">
                <a:solidFill>
                  <a:srgbClr val="1E293B"/>
                </a:solidFill>
                <a:latin typeface="Poppins SemiBold"/>
              </a:rPr>
              <a:t>Falta de Sistema Centralizado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3666232"/>
            <a:ext cx="457200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Actualmente, Bomberos de San Bernardo no cuenta con una herramienta digital centralizada para el control detallado de su equipamiento y flota, dependiendo de métodos manuales o fragmentados.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0" y="3085207"/>
            <a:ext cx="48006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250" i="0" u="none">
                <a:solidFill>
                  <a:srgbClr val="1E293B"/>
                </a:solidFill>
                <a:latin typeface="Poppins SemiBold"/>
              </a:rPr>
              <a:t>Dificultad en la Trazabilidad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0" y="3666232"/>
            <a:ext cx="457200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Esta carencia dificulta el seguimiento en tiempo real del estado de los recursos. Sin información organizada, se complica el control del mantenimiento preventivo y la disponibilidad inmediata de vehículos frente a emergencias.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0F172A"/>
                </a:solidFill>
                <a:latin typeface="Poppins SemiBold"/>
              </a:rPr>
              <a:t>2. Contexto y Problema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362075"/>
            <a:ext cx="5715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33600"/>
            <a:ext cx="3492549" cy="368602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133600"/>
            <a:ext cx="3492549" cy="368602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133600"/>
            <a:ext cx="3492549" cy="36860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47541" y="3333750"/>
            <a:ext cx="2540317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250" i="0" u="none">
                <a:solidFill>
                  <a:srgbClr val="1E293B"/>
                </a:solidFill>
                <a:latin typeface="Poppins SemiBold"/>
              </a:rPr>
              <a:t>Objetivo General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914775"/>
            <a:ext cx="2901999" cy="13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Desarrollar un sistema informático integral para gestionar el inventario de equipamiento y el mantenimiento de las unidades, facilitando el seguimiento de los recursos institucionales.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0846" y="3333750"/>
            <a:ext cx="2450306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250" i="0" u="none">
                <a:solidFill>
                  <a:srgbClr val="1E293B"/>
                </a:solidFill>
                <a:latin typeface="Poppins SemiBold"/>
              </a:rPr>
              <a:t>Diseño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074" y="3914775"/>
            <a:ext cx="2901999" cy="13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Diseñar e implementar un modelo de datos robusto y escalable que permita estructurar correctamente la información histórica y actual de equipos y vehículos.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4140" y="3333750"/>
            <a:ext cx="2540317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250" i="0" u="none">
                <a:solidFill>
                  <a:srgbClr val="1E293B"/>
                </a:solidFill>
                <a:latin typeface="Poppins SemiBold"/>
              </a:rPr>
              <a:t>Implementación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3374" y="3914775"/>
            <a:ext cx="2901999" cy="13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Desarrollar una solución funcional que registre y consulte información en tiempo real, integrando módulos de alertas para validación del mantenimiento.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9575" y="2571750"/>
            <a:ext cx="476250" cy="476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6450" y="2571750"/>
            <a:ext cx="419100" cy="476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74262" y="2571750"/>
            <a:ext cx="600075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0F172A"/>
                </a:solidFill>
                <a:latin typeface="Poppins SemiBold"/>
              </a:rPr>
              <a:t>3. Objetivos del Proyecto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362075"/>
            <a:ext cx="5715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5" y="2071538"/>
            <a:ext cx="381000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81750" y="1932682"/>
            <a:ext cx="5500687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250" i="0" u="none">
                <a:solidFill>
                  <a:srgbClr val="1E293B"/>
                </a:solidFill>
                <a:latin typeface="Poppins SemiBold"/>
              </a:rPr>
              <a:t>Metodología Ágil Crystal Clear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1750" y="2513707"/>
            <a:ext cx="52387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Para abordar el desarrollo individual de manera eficiente, se ha seleccionado el marco de trabajo Crystal Clear. Esto permite un avance progresivo mediante ciclos iterativos (iteraciones de trabajo).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1750" y="3660427"/>
            <a:ext cx="52387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Lato"/>
              </a:rPr>
              <a:t>Fases clave: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075" y="2147738"/>
            <a:ext cx="36576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19875" y="4077592"/>
            <a:ext cx="50006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Lato"/>
              </a:rPr>
              <a:t>Levantamiento: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Análisis profundo de los requerimientos de la institución.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9875" y="4816673"/>
            <a:ext cx="500062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Lato"/>
              </a:rPr>
              <a:t>Planificación flexible: Priorización de funcionalidades críticas.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9875" y="5281463"/>
            <a:ext cx="50006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Lato"/>
              </a:rPr>
              <a:t>Desarrollo y Pruebas: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Construcción de módulos y verificación de calidad.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1750" y="4096642"/>
            <a:ext cx="666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0" sz="900" i="0" u="none">
                <a:solidFill>
                  <a:srgbClr val="DC2626"/>
                </a:solidFill>
                <a:latin typeface="Lato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1750" y="4835723"/>
            <a:ext cx="666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0" sz="900" i="0" u="none">
                <a:solidFill>
                  <a:srgbClr val="DC2626"/>
                </a:solidFill>
                <a:latin typeface="Lato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1750" y="5300513"/>
            <a:ext cx="666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0" sz="900" i="0" u="none">
                <a:solidFill>
                  <a:srgbClr val="DC2626"/>
                </a:solidFill>
                <a:latin typeface="Lato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0F172A"/>
                </a:solidFill>
                <a:latin typeface="Poppins SemiBold"/>
              </a:rPr>
              <a:t>4. Metodología de Trabajo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362075"/>
            <a:ext cx="5715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148137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0733" y="4500562"/>
            <a:ext cx="2552193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0F172A"/>
                </a:solidFill>
                <a:latin typeface="Poppins SemiBold"/>
              </a:rPr>
              <a:t>Semanas 1-2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957762"/>
            <a:ext cx="243066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Levantamiento de requerimientos funcionales, análisis de necesidades y diseño de arquitectura.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413" y="2410866"/>
            <a:ext cx="2552193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0F172A"/>
                </a:solidFill>
                <a:latin typeface="Poppins SemiBold"/>
              </a:rPr>
              <a:t>Semanas 3-4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44180" y="2868066"/>
            <a:ext cx="243066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Diseño detallado del modelo de base de datos e implementación inicial de la estructura.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6094" y="4500562"/>
            <a:ext cx="2552193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0F172A"/>
                </a:solidFill>
                <a:latin typeface="Poppins SemiBold"/>
              </a:rPr>
              <a:t>Semanas 5-8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6860" y="4957762"/>
            <a:ext cx="243066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Desarrollo de interfaces, programación de módulos de inventario, mantenimiento y generación de alertas.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28774" y="2136576"/>
            <a:ext cx="2552193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0F172A"/>
                </a:solidFill>
                <a:latin typeface="Poppins SemiBold"/>
              </a:rPr>
              <a:t>Semanas 9-10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541" y="2593776"/>
            <a:ext cx="243066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Pruebas de software, validación, corrección de errores (mejoras continuas) y documentación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72530" y="40528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45210" y="40528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17891" y="40528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290571" y="40528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0F172A"/>
                </a:solidFill>
                <a:latin typeface="Poppins SemiBold"/>
              </a:rPr>
              <a:t>5. Propuesta de Planificación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362075"/>
            <a:ext cx="5715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00687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0F172A"/>
                </a:solidFill>
                <a:latin typeface="Poppins SemiBold"/>
              </a:rPr>
              <a:t>6. Propuesta de Solución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0"/>
            <a:ext cx="581025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1500" y="1362075"/>
            <a:ext cx="5715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2625179"/>
            <a:ext cx="5500687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250" i="0" u="none">
                <a:solidFill>
                  <a:srgbClr val="1E293B"/>
                </a:solidFill>
                <a:latin typeface="Poppins SemiBold"/>
              </a:rPr>
              <a:t>Sistema Digital Centralizado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206204"/>
            <a:ext cx="52387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Plataforma web escalable que almacena información crítica de equipos y vehículos con acceso en tiempo real.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897659"/>
            <a:ext cx="523875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Incorpora reportes automatizados y alertas tempranas para facilitar el control de mantenimientos preventivos. Esta solución resuelve directamente la fragmentación de datos y optimiza los recursos de la institución.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809750" y="1126926"/>
            <a:ext cx="8572500" cy="1282005"/>
          </a:xfrm>
          <a:prstGeom prst="roundRect">
            <a:avLst>
              <a:gd name="adj" fmla="val 59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81250" y="1317426"/>
            <a:ext cx="7715250" cy="9010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F172A"/>
                </a:solidFill>
                <a:latin typeface="Lato"/>
              </a:rPr>
              <a:t>Arquitectura y Diseño de Datos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Documentación inicial con el modelo relacional de la base de datos (MER) y diagramas de arquitectura del sistema, demostrando la solidez técnica.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09750" y="2551807"/>
            <a:ext cx="8572500" cy="1282005"/>
          </a:xfrm>
          <a:prstGeom prst="roundRect">
            <a:avLst>
              <a:gd name="adj" fmla="val 59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81250" y="2742307"/>
            <a:ext cx="7715250" cy="9010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F172A"/>
                </a:solidFill>
                <a:latin typeface="Lato"/>
              </a:rPr>
              <a:t>Prototipos de Interfaz (Mockups)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Diseño visual de las principales pantallas, permitiendo validar la experiencia de usuario (UX) antes de la programación.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09750" y="3976687"/>
            <a:ext cx="8572500" cy="1282005"/>
          </a:xfrm>
          <a:prstGeom prst="roundRect">
            <a:avLst>
              <a:gd name="adj" fmla="val 59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0" y="4167187"/>
            <a:ext cx="7715250" cy="9010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F172A"/>
                </a:solidFill>
                <a:latin typeface="Lato"/>
              </a:rPr>
              <a:t>Sistema Funcional Capturas y despliegue de los módulos operativos de inventario y unidades desarrollados a lo largo de los iteraciones de trabajo.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09750" y="5401567"/>
            <a:ext cx="8572500" cy="1282005"/>
          </a:xfrm>
          <a:prstGeom prst="roundRect">
            <a:avLst>
              <a:gd name="adj" fmla="val 59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5592067"/>
            <a:ext cx="7715250" cy="9010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F172A"/>
                </a:solidFill>
                <a:latin typeface="Lato"/>
              </a:rPr>
              <a:t>Pruebas y Documentación Técnica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Registro formal de validaciones, casos de prueba ejecutados y la documentación que garantiza la correcta transferencia tecnológica.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50" y="1326951"/>
            <a:ext cx="257175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250" y="2751832"/>
            <a:ext cx="257175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250" y="4176712"/>
            <a:ext cx="285750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0250" y="5601592"/>
            <a:ext cx="171450" cy="247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31551"/>
            <a:ext cx="11601450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0F172A"/>
                </a:solidFill>
                <a:latin typeface="Poppins SemiBold"/>
              </a:rPr>
              <a:t>7. Evidencias y Entregables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822126"/>
            <a:ext cx="5715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87041"/>
            <a:ext cx="3492549" cy="1905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287041"/>
            <a:ext cx="3492549" cy="1905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287041"/>
            <a:ext cx="3492549" cy="190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4186" y="4382541"/>
            <a:ext cx="366717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DC2626"/>
                </a:solidFill>
                <a:latin typeface="Poppins SemiBold"/>
              </a:rPr>
              <a:t>1. Centralización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792116"/>
            <a:ext cx="3492549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Unificación de toda la información institucional en una sola base de datos segura y accesible, eliminando los registros en papel o planillas aisladas.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2485" y="4382541"/>
            <a:ext cx="366717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DC2626"/>
                </a:solidFill>
                <a:latin typeface="Poppins SemiBold"/>
              </a:rPr>
              <a:t>2. Trazabilidad 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9799" y="4792116"/>
            <a:ext cx="3492549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Control exacto del historial de reparaciones y mantenimiento preventivo, alargando la vida útil de las unidades móviles.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0785" y="4382541"/>
            <a:ext cx="366717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DC2626"/>
                </a:solidFill>
                <a:latin typeface="Poppins SemiBold"/>
              </a:rPr>
              <a:t>3. Mayor Eficiencia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99" y="4792116"/>
            <a:ext cx="3492549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Mejor planificación estratégica que garantiza que los bomberos siempre tengan los equipos y vehículos operativos frente a una emergencia.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287041"/>
            <a:ext cx="3492549" cy="1905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9799" y="2287041"/>
            <a:ext cx="3492549" cy="1905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8099" y="2287041"/>
            <a:ext cx="3492549" cy="1905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0F172A"/>
                </a:solidFill>
                <a:latin typeface="Poppins SemiBold"/>
              </a:rPr>
              <a:t>8. Resultados Esperados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362075"/>
            <a:ext cx="5715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1693812"/>
            <a:ext cx="9391650" cy="45657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47875" y="2265312"/>
            <a:ext cx="8172450" cy="2879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b="0" sz="2700" i="0" u="none">
                <a:solidFill>
                  <a:srgbClr val="0F172A"/>
                </a:solidFill>
                <a:latin typeface="Poppins SemiBold"/>
              </a:rPr>
              <a:t>"Definir un alcance acotado y realista demuestra que una solución desarrollada de manera individual puede responder directamente a una necesidad institucional crítica, aportando control y eficiencia real a los recursos de Bomberos."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33912" y="5430887"/>
            <a:ext cx="300037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DC2626"/>
                </a:solidFill>
                <a:latin typeface="Lato"/>
              </a:rPr>
              <a:t>— Conclusión del Proyecto 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0F172A"/>
                </a:solidFill>
                <a:latin typeface="Poppins SemiBold"/>
              </a:rPr>
              <a:t>9. Conclusión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362075"/>
            <a:ext cx="5715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125" y="2071687"/>
            <a:ext cx="381000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881336"/>
            <a:ext cx="5500687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250" i="0" u="none">
                <a:solidFill>
                  <a:srgbClr val="1E293B"/>
                </a:solidFill>
                <a:latin typeface="Poppins SemiBold"/>
              </a:rPr>
              <a:t>Aplicación Práctica del Perfil de Egreso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900511"/>
            <a:ext cx="52387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Durante la concepción de este proyecto, comprendí la absoluta importancia de establecer límites claros en el alcance y definir objetivos precisos.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866257"/>
            <a:ext cx="52387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Al desarrollar el sistema de manera individual, mi principal desafío radicará en la autogestión del tiempo y la priorización de funcionalidades críticas para el cliente.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832002"/>
            <a:ext cx="523875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Este trabajo es una oportunidad inmejorable para consolidar mis fortalezas en bases de datos (SQL) y programación, al mismo tiempo que fortalezco mis áreas de mejora en gestión de proyectos y documentación técnica.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2325" y="2147887"/>
            <a:ext cx="3657600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0F172A"/>
                </a:solidFill>
                <a:latin typeface="Poppins SemiBold"/>
              </a:rPr>
              <a:t>10. Reflexión Personal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362075"/>
            <a:ext cx="5715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1475" y="4231927"/>
            <a:ext cx="3829050" cy="742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1883122"/>
            <a:ext cx="116014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0F172A"/>
                </a:solidFill>
                <a:latin typeface="Poppins"/>
              </a:rP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216622"/>
            <a:ext cx="11049000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0" sz="1950" i="0" u="none">
                <a:solidFill>
                  <a:srgbClr val="475569"/>
                </a:solidFill>
                <a:latin typeface="Lato"/>
              </a:rPr>
              <a:t>Muchas gracias por su tiempo y atención.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330076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114847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097708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882479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4865340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10532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10532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308818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308818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87295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387295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485581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485581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564058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" y="564058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79500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875" y="1472951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https://images.adsttc.com/media/images/6123/bd06/8514/4401/6561/8253/newsletter/web-dsc4702.jpg?1629732120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171866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www.archdaily.com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63390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75" y="2257722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https://media.istockphoto.com/id/801059552/vector/whiteboard-with-post-it-notes-for-agile-software-development-hanging-scrum-task-kanban-board.jpg?s=612x612&amp;w=is&amp;k=20&amp;c=-iRtAoqWnkZaQF92_tU52OZaP0l9Qow8Jgcvh4gR4pk=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2701528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www.istockphoto.com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47132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66875" y="3240583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https://theinventorymaster.com/wp-content/uploads/2025/05/u4.jpg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6875" y="3486298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theinventorymaster.com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31022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66875" y="4025354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https://plus.unsplash.com/premium_vector-1763013632529-49abd74aef59?fm=jpg&amp;q=60&amp;w=3000&amp;auto=format&amp;fit=crop&amp;ixlib=rb-4.1.0&amp;ixid=M3wxMjA3fDB8MHxwaG90by1wYWdlfHx8fGVufDB8fHx8fA%3D%3D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6875" y="4469159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unsplash.com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014763"/>
            <a:ext cx="857250" cy="4762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666875" y="5008215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https://autosist.com/website/blog/images/preventive-maintenance-inspections.jpg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66875" y="5253930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autosist.com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898653"/>
            <a:ext cx="857250" cy="4762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666875" y="5792985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https://external-preview.redd.it/american-and-european-firefighter-helmet-designs-v0-djZic3c5MDU1Z3JjMUh-eLhGc9hjZQo67V7Jln3N_XnacvPZ-5PZMH2PufPs.png?format=pjpg&amp;auto=webp&amp;s=c351bd5d08a68b3c87629fa8d74d0e8a9901dc22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6875" y="6236791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www.reddit.com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234701"/>
            <a:ext cx="11601450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0F172A"/>
                </a:solidFill>
                <a:latin typeface="Poppins SemiBold"/>
              </a:rPr>
              <a:t>Image Sources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1500" y="1025276"/>
            <a:ext cx="5715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100" y="3738413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38475" y="3731865"/>
            <a:ext cx="72104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https://images.stockcake.com/public/6/b/3/6b3b2a02-f11f-4fcb-8fbd-5b16e06d5f7f_large/teenager-coding-intently-stockcake.jpg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38475" y="3977580"/>
            <a:ext cx="72104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stockcake.com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0F172A"/>
                </a:solidFill>
                <a:latin typeface="Poppins SemiBold"/>
              </a:rPr>
              <a:t>Image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362075"/>
            <a:ext cx="5715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
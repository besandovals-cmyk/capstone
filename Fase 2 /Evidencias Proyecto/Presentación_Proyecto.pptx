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j3MfjLoNv0uDFs1pFTE3lDH9Ha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7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2" name="Google Shape;49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1" name="Google Shape;54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1" name="Google Shape;57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0" name="Google Shape;60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8" name="Google Shape;61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7.png"/><Relationship Id="rId7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8.png"/><Relationship Id="rId9" Type="http://schemas.openxmlformats.org/officeDocument/2006/relationships/image" Target="../media/image12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7.png"/><Relationship Id="rId8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26.png"/><Relationship Id="rId7" Type="http://schemas.openxmlformats.org/officeDocument/2006/relationships/image" Target="../media/image15.png"/><Relationship Id="rId8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Relationship Id="rId4" Type="http://schemas.openxmlformats.org/officeDocument/2006/relationships/image" Target="../media/image20.png"/><Relationship Id="rId5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2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Relationship Id="rId4" Type="http://schemas.openxmlformats.org/officeDocument/2006/relationships/image" Target="../media/image24.png"/><Relationship Id="rId5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Relationship Id="rId4" Type="http://schemas.openxmlformats.org/officeDocument/2006/relationships/image" Target="../media/image2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Relationship Id="rId4" Type="http://schemas.openxmlformats.org/officeDocument/2006/relationships/image" Target="../media/image30.png"/><Relationship Id="rId5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Relationship Id="rId4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1425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442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48640" y="521207"/>
            <a:ext cx="2743200" cy="420624"/>
          </a:xfrm>
          <a:prstGeom prst="roundRect">
            <a:avLst>
              <a:gd fmla="val 16667" name="adj"/>
            </a:avLst>
          </a:prstGeom>
          <a:solidFill>
            <a:srgbClr val="E442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777240" y="59436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PROYECTO CAPSTONE · FASE 2</a:t>
            </a:r>
            <a:endParaRPr/>
          </a:p>
        </p:txBody>
      </p:sp>
      <p:sp>
        <p:nvSpPr>
          <p:cNvPr id="21" name="Google Shape;21;p1"/>
          <p:cNvSpPr txBox="1"/>
          <p:nvPr/>
        </p:nvSpPr>
        <p:spPr>
          <a:xfrm>
            <a:off x="594360" y="1243584"/>
            <a:ext cx="4023360" cy="12252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Sistema de Gestión</a:t>
            </a:r>
            <a:endParaRPr/>
          </a:p>
        </p:txBody>
      </p:sp>
      <p:sp>
        <p:nvSpPr>
          <p:cNvPr id="22" name="Google Shape;22;p1"/>
          <p:cNvSpPr txBox="1"/>
          <p:nvPr/>
        </p:nvSpPr>
        <p:spPr>
          <a:xfrm>
            <a:off x="594360" y="2148840"/>
            <a:ext cx="4069080" cy="12984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8466"/>
                </a:solidFill>
                <a:latin typeface="Arial"/>
                <a:ea typeface="Arial"/>
                <a:cs typeface="Arial"/>
                <a:sym typeface="Arial"/>
              </a:rPr>
              <a:t>Inventario 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8466"/>
                </a:solidFill>
                <a:latin typeface="Arial"/>
                <a:ea typeface="Arial"/>
                <a:cs typeface="Arial"/>
                <a:sym typeface="Arial"/>
              </a:rPr>
              <a:t>Mantenimiento</a:t>
            </a:r>
            <a:endParaRPr/>
          </a:p>
        </p:txBody>
      </p:sp>
      <p:sp>
        <p:nvSpPr>
          <p:cNvPr id="23" name="Google Shape;23;p1"/>
          <p:cNvSpPr txBox="1"/>
          <p:nvPr/>
        </p:nvSpPr>
        <p:spPr>
          <a:xfrm>
            <a:off x="594360" y="3904487"/>
            <a:ext cx="39319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Bomberos de San Bernardo</a:t>
            </a:r>
            <a:endParaRPr/>
          </a:p>
        </p:txBody>
      </p:sp>
      <p:sp>
        <p:nvSpPr>
          <p:cNvPr id="24" name="Google Shape;24;p1"/>
          <p:cNvSpPr txBox="1"/>
          <p:nvPr/>
        </p:nvSpPr>
        <p:spPr>
          <a:xfrm>
            <a:off x="594360" y="4928616"/>
            <a:ext cx="3657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Benjamín Sandoval Robles</a:t>
            </a:r>
            <a:endParaRPr/>
          </a:p>
        </p:txBody>
      </p:sp>
      <p:sp>
        <p:nvSpPr>
          <p:cNvPr id="25" name="Google Shape;25;p1"/>
          <p:cNvSpPr txBox="1"/>
          <p:nvPr/>
        </p:nvSpPr>
        <p:spPr>
          <a:xfrm>
            <a:off x="594360" y="5376672"/>
            <a:ext cx="38404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0D1E2"/>
                </a:solidFill>
                <a:latin typeface="Arial"/>
                <a:ea typeface="Arial"/>
                <a:cs typeface="Arial"/>
                <a:sym typeface="Arial"/>
              </a:rPr>
              <a:t>Duoc UC  ·  Capstone 002D</a:t>
            </a:r>
            <a:endParaRPr/>
          </a:p>
        </p:txBody>
      </p:sp>
      <p:sp>
        <p:nvSpPr>
          <p:cNvPr id="26" name="Google Shape;26;p1"/>
          <p:cNvSpPr txBox="1"/>
          <p:nvPr/>
        </p:nvSpPr>
        <p:spPr>
          <a:xfrm>
            <a:off x="5532120" y="667512"/>
            <a:ext cx="6126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4253C"/>
                </a:solidFill>
                <a:latin typeface="Arial"/>
                <a:ea typeface="Arial"/>
                <a:cs typeface="Arial"/>
                <a:sym typeface="Arial"/>
              </a:rPr>
              <a:t>Una solución digital para el control operativo</a:t>
            </a:r>
            <a:endParaRPr/>
          </a:p>
        </p:txBody>
      </p:sp>
      <p:sp>
        <p:nvSpPr>
          <p:cNvPr id="27" name="Google Shape;27;p1"/>
          <p:cNvSpPr txBox="1"/>
          <p:nvPr/>
        </p:nvSpPr>
        <p:spPr>
          <a:xfrm>
            <a:off x="5532120" y="1344168"/>
            <a:ext cx="5852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5758A"/>
                </a:solidFill>
                <a:latin typeface="Arial"/>
                <a:ea typeface="Arial"/>
                <a:cs typeface="Arial"/>
                <a:sym typeface="Arial"/>
              </a:rPr>
              <a:t>Inventario, alertas, mantenciones, gastos, pérdidas y usuarios por compañía.</a:t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5541264" y="2130552"/>
            <a:ext cx="2880360" cy="147218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E1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5705855" y="2313432"/>
            <a:ext cx="630936" cy="630936"/>
          </a:xfrm>
          <a:prstGeom prst="roundRect">
            <a:avLst>
              <a:gd fmla="val 16667" name="adj"/>
            </a:avLst>
          </a:prstGeom>
          <a:solidFill>
            <a:srgbClr val="E442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0" name="Google Shape;3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9592" y="248716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"/>
          <p:cNvSpPr txBox="1"/>
          <p:nvPr/>
        </p:nvSpPr>
        <p:spPr>
          <a:xfrm>
            <a:off x="6437375" y="2350008"/>
            <a:ext cx="187451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253C"/>
                </a:solidFill>
                <a:latin typeface="Arial"/>
                <a:ea typeface="Arial"/>
                <a:cs typeface="Arial"/>
                <a:sym typeface="Arial"/>
              </a:rPr>
              <a:t>Inventario</a:t>
            </a:r>
            <a:endParaRPr/>
          </a:p>
        </p:txBody>
      </p:sp>
      <p:sp>
        <p:nvSpPr>
          <p:cNvPr id="32" name="Google Shape;32;p1"/>
          <p:cNvSpPr txBox="1"/>
          <p:nvPr/>
        </p:nvSpPr>
        <p:spPr>
          <a:xfrm>
            <a:off x="6437375" y="3044952"/>
            <a:ext cx="18196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5758A"/>
                </a:solidFill>
                <a:latin typeface="Arial"/>
                <a:ea typeface="Arial"/>
                <a:cs typeface="Arial"/>
                <a:sym typeface="Arial"/>
              </a:rPr>
              <a:t>Materiales y equipos</a:t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8631936" y="2130552"/>
            <a:ext cx="2880360" cy="147218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E1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8796528" y="2313432"/>
            <a:ext cx="630936" cy="630936"/>
          </a:xfrm>
          <a:prstGeom prst="roundRect">
            <a:avLst>
              <a:gd fmla="val 16667" name="adj"/>
            </a:avLst>
          </a:prstGeom>
          <a:solidFill>
            <a:srgbClr val="F58B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5" name="Google Shape;3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70263" y="248716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"/>
          <p:cNvSpPr txBox="1"/>
          <p:nvPr/>
        </p:nvSpPr>
        <p:spPr>
          <a:xfrm>
            <a:off x="9528048" y="2350008"/>
            <a:ext cx="187451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253C"/>
                </a:solidFill>
                <a:latin typeface="Arial"/>
                <a:ea typeface="Arial"/>
                <a:cs typeface="Arial"/>
                <a:sym typeface="Arial"/>
              </a:rPr>
              <a:t>Mantenimiento</a:t>
            </a:r>
            <a:endParaRPr/>
          </a:p>
        </p:txBody>
      </p:sp>
      <p:sp>
        <p:nvSpPr>
          <p:cNvPr id="37" name="Google Shape;37;p1"/>
          <p:cNvSpPr txBox="1"/>
          <p:nvPr/>
        </p:nvSpPr>
        <p:spPr>
          <a:xfrm>
            <a:off x="9528048" y="3044952"/>
            <a:ext cx="18196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5758A"/>
                </a:solidFill>
                <a:latin typeface="Arial"/>
                <a:ea typeface="Arial"/>
                <a:cs typeface="Arial"/>
                <a:sym typeface="Arial"/>
              </a:rPr>
              <a:t>Reparaciones y costos</a:t>
            </a:r>
            <a:endParaRPr/>
          </a:p>
        </p:txBody>
      </p:sp>
      <p:sp>
        <p:nvSpPr>
          <p:cNvPr id="38" name="Google Shape;38;p1"/>
          <p:cNvSpPr/>
          <p:nvPr/>
        </p:nvSpPr>
        <p:spPr>
          <a:xfrm>
            <a:off x="5541264" y="3794760"/>
            <a:ext cx="2880360" cy="147218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E1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5705855" y="3977640"/>
            <a:ext cx="630936" cy="630936"/>
          </a:xfrm>
          <a:prstGeom prst="roundRect">
            <a:avLst>
              <a:gd fmla="val 16667" name="adj"/>
            </a:avLst>
          </a:prstGeom>
          <a:solidFill>
            <a:srgbClr val="2E77B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0" name="Google Shape;4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79592" y="415137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"/>
          <p:cNvSpPr txBox="1"/>
          <p:nvPr/>
        </p:nvSpPr>
        <p:spPr>
          <a:xfrm>
            <a:off x="6437375" y="4014216"/>
            <a:ext cx="187451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253C"/>
                </a:solidFill>
                <a:latin typeface="Arial"/>
                <a:ea typeface="Arial"/>
                <a:cs typeface="Arial"/>
                <a:sym typeface="Arial"/>
              </a:rPr>
              <a:t>Control de gastos</a:t>
            </a:r>
            <a:endParaRPr/>
          </a:p>
        </p:txBody>
      </p:sp>
      <p:sp>
        <p:nvSpPr>
          <p:cNvPr id="42" name="Google Shape;42;p1"/>
          <p:cNvSpPr txBox="1"/>
          <p:nvPr/>
        </p:nvSpPr>
        <p:spPr>
          <a:xfrm>
            <a:off x="6437375" y="4709160"/>
            <a:ext cx="18196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5758A"/>
                </a:solidFill>
                <a:latin typeface="Arial"/>
                <a:ea typeface="Arial"/>
                <a:cs typeface="Arial"/>
                <a:sym typeface="Arial"/>
              </a:rPr>
              <a:t>Movimientos en CLP</a:t>
            </a:r>
            <a:endParaRPr/>
          </a:p>
        </p:txBody>
      </p:sp>
      <p:sp>
        <p:nvSpPr>
          <p:cNvPr id="43" name="Google Shape;43;p1"/>
          <p:cNvSpPr/>
          <p:nvPr/>
        </p:nvSpPr>
        <p:spPr>
          <a:xfrm>
            <a:off x="8631936" y="3794760"/>
            <a:ext cx="2880360" cy="147218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E1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8796528" y="3977640"/>
            <a:ext cx="630936" cy="630936"/>
          </a:xfrm>
          <a:prstGeom prst="roundRect">
            <a:avLst>
              <a:gd fmla="val 16667" name="adj"/>
            </a:avLst>
          </a:prstGeom>
          <a:solidFill>
            <a:srgbClr val="1F9D9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5" name="Google Shape;45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70263" y="415137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"/>
          <p:cNvSpPr txBox="1"/>
          <p:nvPr/>
        </p:nvSpPr>
        <p:spPr>
          <a:xfrm>
            <a:off x="9528048" y="4014216"/>
            <a:ext cx="187451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253C"/>
                </a:solidFill>
                <a:latin typeface="Arial"/>
                <a:ea typeface="Arial"/>
                <a:cs typeface="Arial"/>
                <a:sym typeface="Arial"/>
              </a:rPr>
              <a:t>Acceso por roles</a:t>
            </a:r>
            <a:endParaRPr/>
          </a:p>
        </p:txBody>
      </p:sp>
      <p:sp>
        <p:nvSpPr>
          <p:cNvPr id="47" name="Google Shape;47;p1"/>
          <p:cNvSpPr txBox="1"/>
          <p:nvPr/>
        </p:nvSpPr>
        <p:spPr>
          <a:xfrm>
            <a:off x="9528048" y="4709160"/>
            <a:ext cx="18196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5758A"/>
                </a:solidFill>
                <a:latin typeface="Arial"/>
                <a:ea typeface="Arial"/>
                <a:cs typeface="Arial"/>
                <a:sym typeface="Arial"/>
              </a:rPr>
              <a:t>Usuarios y compañías</a:t>
            </a:r>
            <a:endParaRPr/>
          </a:p>
        </p:txBody>
      </p:sp>
      <p:sp>
        <p:nvSpPr>
          <p:cNvPr id="48" name="Google Shape;48;p1"/>
          <p:cNvSpPr/>
          <p:nvPr/>
        </p:nvSpPr>
        <p:spPr>
          <a:xfrm>
            <a:off x="5541264" y="5824728"/>
            <a:ext cx="5961888" cy="393192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9" name="Google Shape;49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24144" y="5916168"/>
            <a:ext cx="173736" cy="173736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"/>
          <p:cNvSpPr txBox="1"/>
          <p:nvPr/>
        </p:nvSpPr>
        <p:spPr>
          <a:xfrm>
            <a:off x="6007608" y="5879592"/>
            <a:ext cx="5212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4253C"/>
                </a:solidFill>
                <a:latin typeface="Arial"/>
                <a:ea typeface="Arial"/>
                <a:cs typeface="Arial"/>
                <a:sym typeface="Arial"/>
              </a:rPr>
              <a:t>Aplicación web · Flask · SQLite · JavaScript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E442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502920" y="310896"/>
            <a:ext cx="457200" cy="457200"/>
          </a:xfrm>
          <a:prstGeom prst="roundRect">
            <a:avLst>
              <a:gd fmla="val 16667" name="adj"/>
            </a:avLst>
          </a:prstGeom>
          <a:solidFill>
            <a:srgbClr val="E442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59" name="Google Shape;5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648" y="42062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"/>
          <p:cNvSpPr txBox="1"/>
          <p:nvPr/>
        </p:nvSpPr>
        <p:spPr>
          <a:xfrm>
            <a:off x="1097280" y="374904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5758A"/>
                </a:solidFill>
                <a:latin typeface="Arial"/>
                <a:ea typeface="Arial"/>
                <a:cs typeface="Arial"/>
                <a:sym typeface="Arial"/>
              </a:rPr>
              <a:t>PROYECTO APT · VISIÓN GENERAL</a:t>
            </a:r>
            <a:endParaRPr/>
          </a:p>
        </p:txBody>
      </p:sp>
      <p:sp>
        <p:nvSpPr>
          <p:cNvPr id="61" name="Google Shape;61;p2"/>
          <p:cNvSpPr txBox="1"/>
          <p:nvPr/>
        </p:nvSpPr>
        <p:spPr>
          <a:xfrm>
            <a:off x="594360" y="932688"/>
            <a:ext cx="109728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14253C"/>
                </a:solidFill>
                <a:latin typeface="Arial"/>
                <a:ea typeface="Arial"/>
                <a:cs typeface="Arial"/>
                <a:sym typeface="Arial"/>
              </a:rPr>
              <a:t>Ruta de la presentación</a:t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694944" y="1938528"/>
            <a:ext cx="3493008" cy="165506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BE4E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868680" y="2157984"/>
            <a:ext cx="685800" cy="685800"/>
          </a:xfrm>
          <a:prstGeom prst="roundRect">
            <a:avLst>
              <a:gd fmla="val 16667" name="adj"/>
            </a:avLst>
          </a:prstGeom>
          <a:solidFill>
            <a:srgbClr val="E442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64" name="Google Shape;6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8992" y="2368296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"/>
          <p:cNvSpPr txBox="1"/>
          <p:nvPr/>
        </p:nvSpPr>
        <p:spPr>
          <a:xfrm>
            <a:off x="1709928" y="2221992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4253C"/>
                </a:solidFill>
                <a:latin typeface="Arial"/>
                <a:ea typeface="Arial"/>
                <a:cs typeface="Arial"/>
                <a:sym typeface="Arial"/>
              </a:rPr>
              <a:t>Problema y objetivos</a:t>
            </a:r>
            <a:endParaRPr/>
          </a:p>
        </p:txBody>
      </p:sp>
      <p:sp>
        <p:nvSpPr>
          <p:cNvPr id="66" name="Google Shape;66;p2"/>
          <p:cNvSpPr txBox="1"/>
          <p:nvPr/>
        </p:nvSpPr>
        <p:spPr>
          <a:xfrm>
            <a:off x="969264" y="3191256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5758A"/>
                </a:solidFill>
                <a:latin typeface="Arial"/>
                <a:ea typeface="Arial"/>
                <a:cs typeface="Arial"/>
                <a:sym typeface="Arial"/>
              </a:rPr>
              <a:t>BLOQUE 01</a:t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4489704" y="1938528"/>
            <a:ext cx="3493008" cy="165506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BE4E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4663440" y="2157984"/>
            <a:ext cx="685800" cy="685800"/>
          </a:xfrm>
          <a:prstGeom prst="roundRect">
            <a:avLst>
              <a:gd fmla="val 16667" name="adj"/>
            </a:avLst>
          </a:prstGeom>
          <a:solidFill>
            <a:srgbClr val="F58B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69" name="Google Shape;6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73752" y="2368296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2"/>
          <p:cNvSpPr txBox="1"/>
          <p:nvPr/>
        </p:nvSpPr>
        <p:spPr>
          <a:xfrm>
            <a:off x="5504688" y="2221992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4253C"/>
                </a:solidFill>
                <a:latin typeface="Arial"/>
                <a:ea typeface="Arial"/>
                <a:cs typeface="Arial"/>
                <a:sym typeface="Arial"/>
              </a:rPr>
              <a:t>Crystal Clear y arquitectura</a:t>
            </a:r>
            <a:endParaRPr/>
          </a:p>
        </p:txBody>
      </p:sp>
      <p:sp>
        <p:nvSpPr>
          <p:cNvPr id="71" name="Google Shape;71;p2"/>
          <p:cNvSpPr txBox="1"/>
          <p:nvPr/>
        </p:nvSpPr>
        <p:spPr>
          <a:xfrm>
            <a:off x="4764024" y="3191256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5758A"/>
                </a:solidFill>
                <a:latin typeface="Arial"/>
                <a:ea typeface="Arial"/>
                <a:cs typeface="Arial"/>
                <a:sym typeface="Arial"/>
              </a:rPr>
              <a:t>BLOQUE 02</a:t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8284464" y="1938528"/>
            <a:ext cx="3493008" cy="165506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BE4E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8458200" y="2157984"/>
            <a:ext cx="685800" cy="685800"/>
          </a:xfrm>
          <a:prstGeom prst="roundRect">
            <a:avLst>
              <a:gd fmla="val 16667" name="adj"/>
            </a:avLst>
          </a:prstGeom>
          <a:solidFill>
            <a:srgbClr val="2E77B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74" name="Google Shape;74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8512" y="2368296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2"/>
          <p:cNvSpPr txBox="1"/>
          <p:nvPr/>
        </p:nvSpPr>
        <p:spPr>
          <a:xfrm>
            <a:off x="9299448" y="2221992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4253C"/>
                </a:solidFill>
                <a:latin typeface="Arial"/>
                <a:ea typeface="Arial"/>
                <a:cs typeface="Arial"/>
                <a:sym typeface="Arial"/>
              </a:rPr>
              <a:t>Módulos y evidencias</a:t>
            </a:r>
            <a:endParaRPr/>
          </a:p>
        </p:txBody>
      </p:sp>
      <p:sp>
        <p:nvSpPr>
          <p:cNvPr id="76" name="Google Shape;76;p2"/>
          <p:cNvSpPr txBox="1"/>
          <p:nvPr/>
        </p:nvSpPr>
        <p:spPr>
          <a:xfrm>
            <a:off x="8558784" y="3191256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5758A"/>
                </a:solidFill>
                <a:latin typeface="Arial"/>
                <a:ea typeface="Arial"/>
                <a:cs typeface="Arial"/>
                <a:sym typeface="Arial"/>
              </a:rPr>
              <a:t>BLOQUE 03</a:t>
            </a:r>
            <a:endParaRPr/>
          </a:p>
        </p:txBody>
      </p:sp>
      <p:sp>
        <p:nvSpPr>
          <p:cNvPr id="77" name="Google Shape;77;p2"/>
          <p:cNvSpPr/>
          <p:nvPr/>
        </p:nvSpPr>
        <p:spPr>
          <a:xfrm>
            <a:off x="694944" y="3877056"/>
            <a:ext cx="3493008" cy="165506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BE4E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868680" y="4096512"/>
            <a:ext cx="685800" cy="685800"/>
          </a:xfrm>
          <a:prstGeom prst="roundRect">
            <a:avLst>
              <a:gd fmla="val 16667" name="adj"/>
            </a:avLst>
          </a:prstGeom>
          <a:solidFill>
            <a:srgbClr val="1F9D9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79" name="Google Shape;79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78992" y="4306824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2"/>
          <p:cNvSpPr txBox="1"/>
          <p:nvPr/>
        </p:nvSpPr>
        <p:spPr>
          <a:xfrm>
            <a:off x="1709928" y="416052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4253C"/>
                </a:solidFill>
                <a:latin typeface="Arial"/>
                <a:ea typeface="Arial"/>
                <a:cs typeface="Arial"/>
                <a:sym typeface="Arial"/>
              </a:rPr>
              <a:t>Seguridad y multicompañía</a:t>
            </a:r>
            <a:endParaRPr/>
          </a:p>
        </p:txBody>
      </p:sp>
      <p:sp>
        <p:nvSpPr>
          <p:cNvPr id="81" name="Google Shape;81;p2"/>
          <p:cNvSpPr txBox="1"/>
          <p:nvPr/>
        </p:nvSpPr>
        <p:spPr>
          <a:xfrm>
            <a:off x="969264" y="5129784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5758A"/>
                </a:solidFill>
                <a:latin typeface="Arial"/>
                <a:ea typeface="Arial"/>
                <a:cs typeface="Arial"/>
                <a:sym typeface="Arial"/>
              </a:rPr>
              <a:t>BLOQUE 04</a:t>
            </a:r>
            <a:endParaRPr/>
          </a:p>
        </p:txBody>
      </p:sp>
      <p:sp>
        <p:nvSpPr>
          <p:cNvPr id="82" name="Google Shape;82;p2"/>
          <p:cNvSpPr/>
          <p:nvPr/>
        </p:nvSpPr>
        <p:spPr>
          <a:xfrm>
            <a:off x="4489704" y="3877056"/>
            <a:ext cx="3493008" cy="165506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BE4E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4663440" y="4096512"/>
            <a:ext cx="685800" cy="685800"/>
          </a:xfrm>
          <a:prstGeom prst="roundRect">
            <a:avLst>
              <a:gd fmla="val 16667" name="adj"/>
            </a:avLst>
          </a:prstGeom>
          <a:solidFill>
            <a:srgbClr val="5C97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84" name="Google Shape;84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73752" y="4306824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2"/>
          <p:cNvSpPr txBox="1"/>
          <p:nvPr/>
        </p:nvSpPr>
        <p:spPr>
          <a:xfrm>
            <a:off x="5504688" y="416052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4253C"/>
                </a:solidFill>
                <a:latin typeface="Arial"/>
                <a:ea typeface="Arial"/>
                <a:cs typeface="Arial"/>
                <a:sym typeface="Arial"/>
              </a:rPr>
              <a:t>Pruebas y resultados</a:t>
            </a:r>
            <a:endParaRPr/>
          </a:p>
        </p:txBody>
      </p:sp>
      <p:sp>
        <p:nvSpPr>
          <p:cNvPr id="86" name="Google Shape;86;p2"/>
          <p:cNvSpPr txBox="1"/>
          <p:nvPr/>
        </p:nvSpPr>
        <p:spPr>
          <a:xfrm>
            <a:off x="4764024" y="5129784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5758A"/>
                </a:solidFill>
                <a:latin typeface="Arial"/>
                <a:ea typeface="Arial"/>
                <a:cs typeface="Arial"/>
                <a:sym typeface="Arial"/>
              </a:rPr>
              <a:t>BLOQUE 05</a:t>
            </a:r>
            <a:endParaRPr/>
          </a:p>
        </p:txBody>
      </p:sp>
      <p:sp>
        <p:nvSpPr>
          <p:cNvPr id="87" name="Google Shape;87;p2"/>
          <p:cNvSpPr/>
          <p:nvPr/>
        </p:nvSpPr>
        <p:spPr>
          <a:xfrm>
            <a:off x="8284464" y="3877056"/>
            <a:ext cx="3493008" cy="165506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BE4E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"/>
          <p:cNvSpPr/>
          <p:nvPr/>
        </p:nvSpPr>
        <p:spPr>
          <a:xfrm>
            <a:off x="8458200" y="4096512"/>
            <a:ext cx="685800" cy="685800"/>
          </a:xfrm>
          <a:prstGeom prst="roundRect">
            <a:avLst>
              <a:gd fmla="val 16667" name="adj"/>
            </a:avLst>
          </a:prstGeom>
          <a:solidFill>
            <a:srgbClr val="1425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89" name="Google Shape;89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668512" y="4306824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2"/>
          <p:cNvSpPr txBox="1"/>
          <p:nvPr/>
        </p:nvSpPr>
        <p:spPr>
          <a:xfrm>
            <a:off x="9299448" y="416052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4253C"/>
                </a:solidFill>
                <a:latin typeface="Arial"/>
                <a:ea typeface="Arial"/>
                <a:cs typeface="Arial"/>
                <a:sym typeface="Arial"/>
              </a:rPr>
              <a:t>Conclusiones y límites</a:t>
            </a:r>
            <a:endParaRPr/>
          </a:p>
        </p:txBody>
      </p:sp>
      <p:sp>
        <p:nvSpPr>
          <p:cNvPr id="91" name="Google Shape;91;p2"/>
          <p:cNvSpPr txBox="1"/>
          <p:nvPr/>
        </p:nvSpPr>
        <p:spPr>
          <a:xfrm>
            <a:off x="8558784" y="5129784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5758A"/>
                </a:solidFill>
                <a:latin typeface="Arial"/>
                <a:ea typeface="Arial"/>
                <a:cs typeface="Arial"/>
                <a:sym typeface="Arial"/>
              </a:rPr>
              <a:t>BLOQUE 06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34B46"/>
          </a:solidFill>
          <a:ln cap="flat" cmpd="sng" w="12700">
            <a:solidFill>
              <a:srgbClr val="E34B4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502920" y="228600"/>
            <a:ext cx="7315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BOMBEROS SAN BERNARDO  /  PROYECTO APT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502920" y="61264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Problema que busca resolver el proyecto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" name="Google Shape;100;p3"/>
          <p:cNvCxnSpPr/>
          <p:nvPr/>
        </p:nvCxnSpPr>
        <p:spPr>
          <a:xfrm>
            <a:off x="512064" y="1335024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" name="Google Shape;101;p3"/>
          <p:cNvSpPr/>
          <p:nvPr/>
        </p:nvSpPr>
        <p:spPr>
          <a:xfrm>
            <a:off x="512064" y="6565392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NECESIDAD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11292840" y="6510528"/>
            <a:ext cx="32918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640080" y="1600200"/>
            <a:ext cx="3511296" cy="3035808"/>
          </a:xfrm>
          <a:prstGeom prst="roundRect">
            <a:avLst>
              <a:gd fmla="val 5422" name="adj"/>
            </a:avLst>
          </a:prstGeom>
          <a:solidFill>
            <a:srgbClr val="FFFFFF"/>
          </a:solidFill>
          <a:ln cap="flat" cmpd="sng" w="12700">
            <a:solidFill>
              <a:srgbClr val="E6E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822960" y="178308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E34B46"/>
          </a:solidFill>
          <a:ln cap="flat" cmpd="sng" w="12700">
            <a:solidFill>
              <a:srgbClr val="E34B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822960" y="2441448"/>
            <a:ext cx="31455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Información en planillas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822960" y="2971800"/>
            <a:ext cx="3145536" cy="1481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La información del inventario se administra principalmente mediante archivos Excel.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4343400" y="1600200"/>
            <a:ext cx="3511296" cy="3035808"/>
          </a:xfrm>
          <a:prstGeom prst="roundRect">
            <a:avLst>
              <a:gd fmla="val 5422" name="adj"/>
            </a:avLst>
          </a:prstGeom>
          <a:solidFill>
            <a:srgbClr val="FFFFFF"/>
          </a:solidFill>
          <a:ln cap="flat" cmpd="sng" w="12700">
            <a:solidFill>
              <a:srgbClr val="E6E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4526280" y="178308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F4A340"/>
          </a:solidFill>
          <a:ln cap="flat" cmpd="sng" w="12700">
            <a:solidFill>
              <a:srgbClr val="F4A3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4526280" y="2441448"/>
            <a:ext cx="31455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Control de vencimientos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4526280" y="2971800"/>
            <a:ext cx="3145536" cy="1481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Las revisiones de artículos y mantenciones requieren seguimiento periódico.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8037576" y="1600200"/>
            <a:ext cx="3511296" cy="3035808"/>
          </a:xfrm>
          <a:prstGeom prst="roundRect">
            <a:avLst>
              <a:gd fmla="val 5422" name="adj"/>
            </a:avLst>
          </a:prstGeom>
          <a:solidFill>
            <a:srgbClr val="FFFFFF"/>
          </a:solidFill>
          <a:ln cap="flat" cmpd="sng" w="12700">
            <a:solidFill>
              <a:srgbClr val="E6E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8220456" y="178308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5A7A1"/>
          </a:solidFill>
          <a:ln cap="flat" cmpd="sng" w="12700">
            <a:solidFill>
              <a:srgbClr val="25A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8220456" y="2441448"/>
            <a:ext cx="31455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Información de costos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8220456" y="2971800"/>
            <a:ext cx="3145536" cy="1481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Se necesita registrar gastos, reparaciones y valores de equipos en un mismo sistema.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777240" y="4892040"/>
            <a:ext cx="10652760" cy="914400"/>
          </a:xfrm>
          <a:prstGeom prst="roundRect">
            <a:avLst>
              <a:gd fmla="val 15000" name="adj"/>
            </a:avLst>
          </a:prstGeom>
          <a:solidFill>
            <a:srgbClr val="14263F"/>
          </a:solidFill>
          <a:ln cap="flat" cmpd="sng" w="12700">
            <a:solidFill>
              <a:srgbClr val="1426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1737360" y="5074920"/>
            <a:ext cx="92354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Propuesta: centralizar registros y automatizar alertas para apoyar la gestión.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11466576" y="283464"/>
            <a:ext cx="438912" cy="438912"/>
          </a:xfrm>
          <a:prstGeom prst="roundRect">
            <a:avLst>
              <a:gd fmla="val 16667" name="adj"/>
            </a:avLst>
          </a:prstGeom>
          <a:solidFill>
            <a:srgbClr val="E442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18" name="Google Shape;1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85448" y="402336"/>
            <a:ext cx="201168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34B46"/>
          </a:solidFill>
          <a:ln cap="flat" cmpd="sng" w="12700">
            <a:solidFill>
              <a:srgbClr val="E34B4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502920" y="228600"/>
            <a:ext cx="7315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BOMBEROS SAN BERNARDO  /  PROYECTO APT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502920" y="61264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Objetivo y alcance del proyecto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7" name="Google Shape;127;p4"/>
          <p:cNvCxnSpPr/>
          <p:nvPr/>
        </p:nvCxnSpPr>
        <p:spPr>
          <a:xfrm>
            <a:off x="512064" y="1335024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4"/>
          <p:cNvSpPr/>
          <p:nvPr/>
        </p:nvSpPr>
        <p:spPr>
          <a:xfrm>
            <a:off x="512064" y="6565392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PLANIFICACIÓN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11292840" y="6510528"/>
            <a:ext cx="32918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731520" y="1609344"/>
            <a:ext cx="10789920" cy="1042416"/>
          </a:xfrm>
          <a:prstGeom prst="roundRect">
            <a:avLst>
              <a:gd fmla="val 14912" name="adj"/>
            </a:avLst>
          </a:prstGeom>
          <a:solidFill>
            <a:srgbClr val="14263F"/>
          </a:solidFill>
          <a:ln cap="flat" cmpd="sng" w="12700">
            <a:solidFill>
              <a:srgbClr val="1426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1627632" y="1764792"/>
            <a:ext cx="9528048" cy="75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Implementar una aplicación web para administrar inventario, mantenimiento y controles operativos.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731520" y="2990088"/>
            <a:ext cx="5266944" cy="1124712"/>
          </a:xfrm>
          <a:prstGeom prst="roundRect">
            <a:avLst>
              <a:gd fmla="val 12195" name="adj"/>
            </a:avLst>
          </a:prstGeom>
          <a:solidFill>
            <a:srgbClr val="FFFFFF"/>
          </a:solidFill>
          <a:ln cap="flat" cmpd="sng" w="12700">
            <a:solidFill>
              <a:srgbClr val="E4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1581912" y="3291840"/>
            <a:ext cx="420624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Centralizar registros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6217920" y="2990088"/>
            <a:ext cx="5266944" cy="1124712"/>
          </a:xfrm>
          <a:prstGeom prst="roundRect">
            <a:avLst>
              <a:gd fmla="val 12195" name="adj"/>
            </a:avLst>
          </a:prstGeom>
          <a:solidFill>
            <a:srgbClr val="FFFFFF"/>
          </a:solidFill>
          <a:ln cap="flat" cmpd="sng" w="12700">
            <a:solidFill>
              <a:srgbClr val="E4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7068312" y="3291840"/>
            <a:ext cx="420624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Gestionar alertas y seguimiento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731520" y="4379976"/>
            <a:ext cx="5266944" cy="1124712"/>
          </a:xfrm>
          <a:prstGeom prst="roundRect">
            <a:avLst>
              <a:gd fmla="val 12195" name="adj"/>
            </a:avLst>
          </a:prstGeom>
          <a:solidFill>
            <a:srgbClr val="FFFFFF"/>
          </a:solidFill>
          <a:ln cap="flat" cmpd="sng" w="12700">
            <a:solidFill>
              <a:srgbClr val="E4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1581912" y="4681728"/>
            <a:ext cx="420624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Registrar gastos y pérdidas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6217920" y="4379976"/>
            <a:ext cx="5266944" cy="1124712"/>
          </a:xfrm>
          <a:prstGeom prst="roundRect">
            <a:avLst>
              <a:gd fmla="val 12195" name="adj"/>
            </a:avLst>
          </a:prstGeom>
          <a:solidFill>
            <a:srgbClr val="FFFFFF"/>
          </a:solidFill>
          <a:ln cap="flat" cmpd="sng" w="12700">
            <a:solidFill>
              <a:srgbClr val="E4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7068312" y="4681728"/>
            <a:ext cx="420624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Separar datos por compañías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4069080" y="6025896"/>
            <a:ext cx="4114800" cy="320040"/>
          </a:xfrm>
          <a:prstGeom prst="roundRect">
            <a:avLst>
              <a:gd fmla="val 37143" name="adj"/>
            </a:avLst>
          </a:prstGeom>
          <a:solidFill>
            <a:srgbClr val="E34B46"/>
          </a:solidFill>
          <a:ln cap="flat" cmpd="sng" w="12700">
            <a:solidFill>
              <a:srgbClr val="E34B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4178808" y="6057900"/>
            <a:ext cx="38953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Arial"/>
              <a:buNone/>
            </a:pPr>
            <a:r>
              <a:rPr b="1" i="0" lang="en-US" sz="10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Alcance inicial: San Bernardo · Expansión futura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11466576" y="283464"/>
            <a:ext cx="438912" cy="438912"/>
          </a:xfrm>
          <a:prstGeom prst="roundRect">
            <a:avLst>
              <a:gd fmla="val 16667" name="adj"/>
            </a:avLst>
          </a:prstGeom>
          <a:solidFill>
            <a:srgbClr val="E442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43" name="Google Shape;14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85448" y="402336"/>
            <a:ext cx="201168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34B46"/>
          </a:solidFill>
          <a:ln cap="flat" cmpd="sng" w="12700">
            <a:solidFill>
              <a:srgbClr val="E34B4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502920" y="228600"/>
            <a:ext cx="7315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BOMBEROS SAN BERNARDO  /  PROYECTO APT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502920" y="61264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Metodología Crystal Clear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2" name="Google Shape;152;p5"/>
          <p:cNvCxnSpPr/>
          <p:nvPr/>
        </p:nvCxnSpPr>
        <p:spPr>
          <a:xfrm>
            <a:off x="512064" y="1335024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p5"/>
          <p:cNvSpPr/>
          <p:nvPr/>
        </p:nvSpPr>
        <p:spPr>
          <a:xfrm>
            <a:off x="512064" y="6565392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PROCESO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11292840" y="6510528"/>
            <a:ext cx="32918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585216" y="1828800"/>
            <a:ext cx="2724912" cy="3044952"/>
          </a:xfrm>
          <a:prstGeom prst="roundRect">
            <a:avLst>
              <a:gd fmla="val 6040" name="adj"/>
            </a:avLst>
          </a:prstGeom>
          <a:solidFill>
            <a:srgbClr val="FFFFFF"/>
          </a:solidFill>
          <a:ln cap="flat" cmpd="sng" w="12700">
            <a:solidFill>
              <a:srgbClr val="E5EB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813816" y="2139696"/>
            <a:ext cx="731520" cy="731520"/>
          </a:xfrm>
          <a:prstGeom prst="roundRect">
            <a:avLst>
              <a:gd fmla="val 22500" name="adj"/>
            </a:avLst>
          </a:prstGeom>
          <a:solidFill>
            <a:srgbClr val="E34B46"/>
          </a:solidFill>
          <a:ln cap="flat" cmpd="sng" w="12700">
            <a:solidFill>
              <a:srgbClr val="E34B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804672" y="3127248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Análisis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804672" y="3666744"/>
            <a:ext cx="2331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Levantamiento de necesidades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3529584" y="1828800"/>
            <a:ext cx="2724912" cy="3044952"/>
          </a:xfrm>
          <a:prstGeom prst="roundRect">
            <a:avLst>
              <a:gd fmla="val 6040" name="adj"/>
            </a:avLst>
          </a:prstGeom>
          <a:solidFill>
            <a:srgbClr val="FFFFFF"/>
          </a:solidFill>
          <a:ln cap="flat" cmpd="sng" w="12700">
            <a:solidFill>
              <a:srgbClr val="E5EB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3758184" y="2139696"/>
            <a:ext cx="731520" cy="731520"/>
          </a:xfrm>
          <a:prstGeom prst="roundRect">
            <a:avLst>
              <a:gd fmla="val 22500" name="adj"/>
            </a:avLst>
          </a:prstGeom>
          <a:solidFill>
            <a:srgbClr val="F4A340"/>
          </a:solidFill>
          <a:ln cap="flat" cmpd="sng" w="12700">
            <a:solidFill>
              <a:srgbClr val="F4A3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3749040" y="3127248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Desarrollo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3749040" y="3666744"/>
            <a:ext cx="2331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Construcción por módulos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6473952" y="1828800"/>
            <a:ext cx="2724912" cy="3044952"/>
          </a:xfrm>
          <a:prstGeom prst="roundRect">
            <a:avLst>
              <a:gd fmla="val 6040" name="adj"/>
            </a:avLst>
          </a:prstGeom>
          <a:solidFill>
            <a:srgbClr val="FFFFFF"/>
          </a:solidFill>
          <a:ln cap="flat" cmpd="sng" w="12700">
            <a:solidFill>
              <a:srgbClr val="E5EB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6702552" y="2139696"/>
            <a:ext cx="731520" cy="731520"/>
          </a:xfrm>
          <a:prstGeom prst="roundRect">
            <a:avLst>
              <a:gd fmla="val 22500" name="adj"/>
            </a:avLst>
          </a:prstGeom>
          <a:solidFill>
            <a:srgbClr val="25A7A1"/>
          </a:solidFill>
          <a:ln cap="flat" cmpd="sng" w="12700">
            <a:solidFill>
              <a:srgbClr val="25A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6693408" y="3127248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Pruebas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6693408" y="3666744"/>
            <a:ext cx="2331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Comprobaciones en el navegador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9418320" y="1828800"/>
            <a:ext cx="2724912" cy="3044952"/>
          </a:xfrm>
          <a:prstGeom prst="roundRect">
            <a:avLst>
              <a:gd fmla="val 6040" name="adj"/>
            </a:avLst>
          </a:prstGeom>
          <a:solidFill>
            <a:srgbClr val="FFFFFF"/>
          </a:solidFill>
          <a:ln cap="flat" cmpd="sng" w="12700">
            <a:solidFill>
              <a:srgbClr val="E5EB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9646920" y="2139696"/>
            <a:ext cx="731520" cy="731520"/>
          </a:xfrm>
          <a:prstGeom prst="roundRect">
            <a:avLst>
              <a:gd fmla="val 22500" name="adj"/>
            </a:avLst>
          </a:prstGeom>
          <a:solidFill>
            <a:srgbClr val="5A8BDC"/>
          </a:solidFill>
          <a:ln cap="flat" cmpd="sng" w="12700">
            <a:solidFill>
              <a:srgbClr val="5A8B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9637776" y="3127248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Ajustes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9637776" y="3666744"/>
            <a:ext cx="2331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Correcciones según resultados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1097280" y="5230368"/>
            <a:ext cx="9966960" cy="731520"/>
          </a:xfrm>
          <a:prstGeom prst="roundRect">
            <a:avLst>
              <a:gd fmla="val 17500" name="adj"/>
            </a:avLst>
          </a:prstGeom>
          <a:solidFill>
            <a:srgbClr val="EEF3F8"/>
          </a:solidFill>
          <a:ln cap="flat" cmpd="sng" w="12700">
            <a:solidFill>
              <a:srgbClr val="EEF3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1371600" y="5394960"/>
            <a:ext cx="93268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Trabajo individual · Desarrollo iterativo · Pruebas manuales sobre funciones reales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11466576" y="283464"/>
            <a:ext cx="438912" cy="438912"/>
          </a:xfrm>
          <a:prstGeom prst="roundRect">
            <a:avLst>
              <a:gd fmla="val 16667" name="adj"/>
            </a:avLst>
          </a:prstGeom>
          <a:solidFill>
            <a:srgbClr val="E442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74" name="Google Shape;17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85448" y="402336"/>
            <a:ext cx="201168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E3E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6"/>
          <p:cNvSpPr txBox="1"/>
          <p:nvPr/>
        </p:nvSpPr>
        <p:spPr>
          <a:xfrm>
            <a:off x="502920" y="228600"/>
            <a:ext cx="7315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A697D"/>
                </a:solidFill>
                <a:latin typeface="Arial"/>
                <a:ea typeface="Arial"/>
                <a:cs typeface="Arial"/>
                <a:sym typeface="Arial"/>
              </a:rPr>
              <a:t>BOMBEROS SAN BERNARDO  /  PROYECTO APT</a:t>
            </a:r>
            <a:endParaRPr/>
          </a:p>
        </p:txBody>
      </p:sp>
      <p:sp>
        <p:nvSpPr>
          <p:cNvPr id="182" name="Google Shape;182;p6"/>
          <p:cNvSpPr txBox="1"/>
          <p:nvPr/>
        </p:nvSpPr>
        <p:spPr>
          <a:xfrm>
            <a:off x="502920" y="621792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16273E"/>
                </a:solidFill>
                <a:latin typeface="Arial"/>
                <a:ea typeface="Arial"/>
                <a:cs typeface="Arial"/>
                <a:sym typeface="Arial"/>
              </a:rPr>
              <a:t>Crystal Clear · valores y principios</a:t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502920" y="1316736"/>
            <a:ext cx="950976" cy="64008"/>
          </a:xfrm>
          <a:prstGeom prst="rect">
            <a:avLst/>
          </a:prstGeom>
          <a:solidFill>
            <a:srgbClr val="DE3E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6"/>
          <p:cNvSpPr txBox="1"/>
          <p:nvPr/>
        </p:nvSpPr>
        <p:spPr>
          <a:xfrm>
            <a:off x="512064" y="6547104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A697D"/>
                </a:solidFill>
                <a:latin typeface="Arial"/>
                <a:ea typeface="Arial"/>
                <a:cs typeface="Arial"/>
                <a:sym typeface="Arial"/>
              </a:rPr>
              <a:t>METODOLOGÍA / FUNDAMENTOS</a:t>
            </a:r>
            <a:endParaRPr/>
          </a:p>
        </p:txBody>
      </p:sp>
      <p:sp>
        <p:nvSpPr>
          <p:cNvPr id="185" name="Google Shape;185;p6"/>
          <p:cNvSpPr txBox="1"/>
          <p:nvPr/>
        </p:nvSpPr>
        <p:spPr>
          <a:xfrm>
            <a:off x="11292840" y="6519672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A697D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186" name="Google Shape;186;p6"/>
          <p:cNvSpPr txBox="1"/>
          <p:nvPr/>
        </p:nvSpPr>
        <p:spPr>
          <a:xfrm>
            <a:off x="521207" y="1517904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A697D"/>
                </a:solidFill>
                <a:latin typeface="Arial"/>
                <a:ea typeface="Arial"/>
                <a:cs typeface="Arial"/>
                <a:sym typeface="Arial"/>
              </a:rPr>
              <a:t>Valores orientadores: personas, comunicación, simplicidad, adaptación y mejora continua.</a:t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493776" y="1993392"/>
            <a:ext cx="3657600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1E6E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658368" y="2157984"/>
            <a:ext cx="438912" cy="438912"/>
          </a:xfrm>
          <a:prstGeom prst="roundRect">
            <a:avLst>
              <a:gd fmla="val 16667" name="adj"/>
            </a:avLst>
          </a:prstGeom>
          <a:solidFill>
            <a:srgbClr val="DE3E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6"/>
          <p:cNvSpPr txBox="1"/>
          <p:nvPr/>
        </p:nvSpPr>
        <p:spPr>
          <a:xfrm>
            <a:off x="658368" y="2258568"/>
            <a:ext cx="4389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90" name="Google Shape;190;p6"/>
          <p:cNvSpPr txBox="1"/>
          <p:nvPr/>
        </p:nvSpPr>
        <p:spPr>
          <a:xfrm>
            <a:off x="1207008" y="2157984"/>
            <a:ext cx="2770632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6273E"/>
                </a:solidFill>
                <a:latin typeface="Arial"/>
                <a:ea typeface="Arial"/>
                <a:cs typeface="Arial"/>
                <a:sym typeface="Arial"/>
              </a:rPr>
              <a:t>Entregas frecuentes</a:t>
            </a:r>
            <a:endParaRPr/>
          </a:p>
        </p:txBody>
      </p:sp>
      <p:sp>
        <p:nvSpPr>
          <p:cNvPr id="191" name="Google Shape;191;p6"/>
          <p:cNvSpPr txBox="1"/>
          <p:nvPr/>
        </p:nvSpPr>
        <p:spPr>
          <a:xfrm>
            <a:off x="694944" y="2734056"/>
            <a:ext cx="32552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A697D"/>
                </a:solidFill>
                <a:latin typeface="Arial"/>
                <a:ea typeface="Arial"/>
                <a:cs typeface="Arial"/>
                <a:sym typeface="Arial"/>
              </a:rPr>
              <a:t>Mostrar avances utilizables, no esperar hasta el final.</a:t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4279392" y="1993392"/>
            <a:ext cx="3657600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1E6E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4443983" y="2157984"/>
            <a:ext cx="438912" cy="438912"/>
          </a:xfrm>
          <a:prstGeom prst="roundRect">
            <a:avLst>
              <a:gd fmla="val 16667" name="adj"/>
            </a:avLst>
          </a:prstGeom>
          <a:solidFill>
            <a:srgbClr val="F284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6"/>
          <p:cNvSpPr txBox="1"/>
          <p:nvPr/>
        </p:nvSpPr>
        <p:spPr>
          <a:xfrm>
            <a:off x="4443983" y="2258568"/>
            <a:ext cx="4389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95" name="Google Shape;195;p6"/>
          <p:cNvSpPr txBox="1"/>
          <p:nvPr/>
        </p:nvSpPr>
        <p:spPr>
          <a:xfrm>
            <a:off x="4992624" y="2157984"/>
            <a:ext cx="2770632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6273E"/>
                </a:solidFill>
                <a:latin typeface="Arial"/>
                <a:ea typeface="Arial"/>
                <a:cs typeface="Arial"/>
                <a:sym typeface="Arial"/>
              </a:rPr>
              <a:t>Mejora reflexiva</a:t>
            </a:r>
            <a:endParaRPr/>
          </a:p>
        </p:txBody>
      </p:sp>
      <p:sp>
        <p:nvSpPr>
          <p:cNvPr id="196" name="Google Shape;196;p6"/>
          <p:cNvSpPr txBox="1"/>
          <p:nvPr/>
        </p:nvSpPr>
        <p:spPr>
          <a:xfrm>
            <a:off x="4480559" y="2734056"/>
            <a:ext cx="32552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A697D"/>
                </a:solidFill>
                <a:latin typeface="Arial"/>
                <a:ea typeface="Arial"/>
                <a:cs typeface="Arial"/>
                <a:sym typeface="Arial"/>
              </a:rPr>
              <a:t>Revisar errores y ajustar la forma de trabajar.</a:t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8065008" y="1993392"/>
            <a:ext cx="3657600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1E6E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8229600" y="2157984"/>
            <a:ext cx="438912" cy="438912"/>
          </a:xfrm>
          <a:prstGeom prst="roundRect">
            <a:avLst>
              <a:gd fmla="val 16667" name="adj"/>
            </a:avLst>
          </a:prstGeom>
          <a:solidFill>
            <a:srgbClr val="139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6"/>
          <p:cNvSpPr txBox="1"/>
          <p:nvPr/>
        </p:nvSpPr>
        <p:spPr>
          <a:xfrm>
            <a:off x="8229600" y="2258568"/>
            <a:ext cx="4389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200" name="Google Shape;200;p6"/>
          <p:cNvSpPr txBox="1"/>
          <p:nvPr/>
        </p:nvSpPr>
        <p:spPr>
          <a:xfrm>
            <a:off x="8778240" y="2157984"/>
            <a:ext cx="2770632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6273E"/>
                </a:solidFill>
                <a:latin typeface="Arial"/>
                <a:ea typeface="Arial"/>
                <a:cs typeface="Arial"/>
                <a:sym typeface="Arial"/>
              </a:rPr>
              <a:t>Comunicación osmótica</a:t>
            </a:r>
            <a:endParaRPr/>
          </a:p>
        </p:txBody>
      </p:sp>
      <p:sp>
        <p:nvSpPr>
          <p:cNvPr id="201" name="Google Shape;201;p6"/>
          <p:cNvSpPr txBox="1"/>
          <p:nvPr/>
        </p:nvSpPr>
        <p:spPr>
          <a:xfrm>
            <a:off x="8266176" y="2734056"/>
            <a:ext cx="32552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A697D"/>
                </a:solidFill>
                <a:latin typeface="Arial"/>
                <a:ea typeface="Arial"/>
                <a:cs typeface="Arial"/>
                <a:sym typeface="Arial"/>
              </a:rPr>
              <a:t>Propiedad grupal; adaptación limitada en trabajo individual.</a:t>
            </a:r>
            <a:endParaRPr/>
          </a:p>
        </p:txBody>
      </p:sp>
      <p:sp>
        <p:nvSpPr>
          <p:cNvPr id="202" name="Google Shape;202;p6"/>
          <p:cNvSpPr txBox="1"/>
          <p:nvPr/>
        </p:nvSpPr>
        <p:spPr>
          <a:xfrm>
            <a:off x="530352" y="3502152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6273E"/>
                </a:solidFill>
                <a:latin typeface="Arial"/>
                <a:ea typeface="Arial"/>
                <a:cs typeface="Arial"/>
                <a:sym typeface="Arial"/>
              </a:rPr>
              <a:t>Otras cuatro propiedades de Crystal Clear</a:t>
            </a:r>
            <a:endParaRPr/>
          </a:p>
        </p:txBody>
      </p:sp>
      <p:sp>
        <p:nvSpPr>
          <p:cNvPr id="203" name="Google Shape;203;p6"/>
          <p:cNvSpPr/>
          <p:nvPr/>
        </p:nvSpPr>
        <p:spPr>
          <a:xfrm>
            <a:off x="493776" y="3931920"/>
            <a:ext cx="2798064" cy="14356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1E6E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630936" y="4087368"/>
            <a:ext cx="91440" cy="356616"/>
          </a:xfrm>
          <a:prstGeom prst="rect">
            <a:avLst/>
          </a:prstGeom>
          <a:solidFill>
            <a:srgbClr val="DE3E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6"/>
          <p:cNvSpPr txBox="1"/>
          <p:nvPr/>
        </p:nvSpPr>
        <p:spPr>
          <a:xfrm>
            <a:off x="813816" y="4041648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6273E"/>
                </a:solidFill>
                <a:latin typeface="Arial"/>
                <a:ea typeface="Arial"/>
                <a:cs typeface="Arial"/>
                <a:sym typeface="Arial"/>
              </a:rPr>
              <a:t>Seguridad personal</a:t>
            </a:r>
            <a:endParaRPr/>
          </a:p>
        </p:txBody>
      </p:sp>
      <p:sp>
        <p:nvSpPr>
          <p:cNvPr id="206" name="Google Shape;206;p6"/>
          <p:cNvSpPr txBox="1"/>
          <p:nvPr/>
        </p:nvSpPr>
        <p:spPr>
          <a:xfrm>
            <a:off x="713232" y="4590288"/>
            <a:ext cx="2359152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A697D"/>
                </a:solidFill>
                <a:latin typeface="Arial"/>
                <a:ea typeface="Arial"/>
                <a:cs typeface="Arial"/>
                <a:sym typeface="Arial"/>
              </a:rPr>
              <a:t>Expresar problemas sin temor.</a:t>
            </a: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3410712" y="3931920"/>
            <a:ext cx="2798064" cy="14356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1E6E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3547872" y="4087368"/>
            <a:ext cx="91440" cy="356616"/>
          </a:xfrm>
          <a:prstGeom prst="rect">
            <a:avLst/>
          </a:prstGeom>
          <a:solidFill>
            <a:srgbClr val="F284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6"/>
          <p:cNvSpPr txBox="1"/>
          <p:nvPr/>
        </p:nvSpPr>
        <p:spPr>
          <a:xfrm>
            <a:off x="3730752" y="4041648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6273E"/>
                </a:solidFill>
                <a:latin typeface="Arial"/>
                <a:ea typeface="Arial"/>
                <a:cs typeface="Arial"/>
                <a:sym typeface="Arial"/>
              </a:rPr>
              <a:t>Enfoque</a:t>
            </a:r>
            <a:endParaRPr/>
          </a:p>
        </p:txBody>
      </p:sp>
      <p:sp>
        <p:nvSpPr>
          <p:cNvPr id="210" name="Google Shape;210;p6"/>
          <p:cNvSpPr txBox="1"/>
          <p:nvPr/>
        </p:nvSpPr>
        <p:spPr>
          <a:xfrm>
            <a:off x="3630168" y="4590288"/>
            <a:ext cx="2359152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A697D"/>
                </a:solidFill>
                <a:latin typeface="Arial"/>
                <a:ea typeface="Arial"/>
                <a:cs typeface="Arial"/>
                <a:sym typeface="Arial"/>
              </a:rPr>
              <a:t>Priorizar las tareas importantes.</a:t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6327648" y="3931920"/>
            <a:ext cx="2798064" cy="14356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1E6E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6464808" y="4087368"/>
            <a:ext cx="91440" cy="356616"/>
          </a:xfrm>
          <a:prstGeom prst="rect">
            <a:avLst/>
          </a:prstGeom>
          <a:solidFill>
            <a:srgbClr val="139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6"/>
          <p:cNvSpPr txBox="1"/>
          <p:nvPr/>
        </p:nvSpPr>
        <p:spPr>
          <a:xfrm>
            <a:off x="6647688" y="4041648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6273E"/>
                </a:solidFill>
                <a:latin typeface="Arial"/>
                <a:ea typeface="Arial"/>
                <a:cs typeface="Arial"/>
                <a:sym typeface="Arial"/>
              </a:rPr>
              <a:t>Usuarios expertos</a:t>
            </a:r>
            <a:endParaRPr/>
          </a:p>
        </p:txBody>
      </p:sp>
      <p:sp>
        <p:nvSpPr>
          <p:cNvPr id="214" name="Google Shape;214;p6"/>
          <p:cNvSpPr txBox="1"/>
          <p:nvPr/>
        </p:nvSpPr>
        <p:spPr>
          <a:xfrm>
            <a:off x="6547104" y="4590288"/>
            <a:ext cx="2359152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A697D"/>
                </a:solidFill>
                <a:latin typeface="Arial"/>
                <a:ea typeface="Arial"/>
                <a:cs typeface="Arial"/>
                <a:sym typeface="Arial"/>
              </a:rPr>
              <a:t>Acceder a conocimiento del contexto.</a:t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9244584" y="3931920"/>
            <a:ext cx="2798064" cy="14356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1E6E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9381744" y="4087368"/>
            <a:ext cx="91440" cy="356616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6"/>
          <p:cNvSpPr txBox="1"/>
          <p:nvPr/>
        </p:nvSpPr>
        <p:spPr>
          <a:xfrm>
            <a:off x="9564624" y="4041648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6273E"/>
                </a:solidFill>
                <a:latin typeface="Arial"/>
                <a:ea typeface="Arial"/>
                <a:cs typeface="Arial"/>
                <a:sym typeface="Arial"/>
              </a:rPr>
              <a:t>Entorno técnico</a:t>
            </a:r>
            <a:endParaRPr/>
          </a:p>
        </p:txBody>
      </p:sp>
      <p:sp>
        <p:nvSpPr>
          <p:cNvPr id="218" name="Google Shape;218;p6"/>
          <p:cNvSpPr txBox="1"/>
          <p:nvPr/>
        </p:nvSpPr>
        <p:spPr>
          <a:xfrm>
            <a:off x="9464040" y="4590288"/>
            <a:ext cx="2359152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A697D"/>
                </a:solidFill>
                <a:latin typeface="Arial"/>
                <a:ea typeface="Arial"/>
                <a:cs typeface="Arial"/>
                <a:sym typeface="Arial"/>
              </a:rPr>
              <a:t>Usar herramientas y pruebas adecuadas.</a:t>
            </a:r>
            <a:endParaRPr/>
          </a:p>
        </p:txBody>
      </p:sp>
      <p:sp>
        <p:nvSpPr>
          <p:cNvPr id="219" name="Google Shape;219;p6"/>
          <p:cNvSpPr/>
          <p:nvPr/>
        </p:nvSpPr>
        <p:spPr>
          <a:xfrm>
            <a:off x="502920" y="5632704"/>
            <a:ext cx="11192256" cy="539496"/>
          </a:xfrm>
          <a:prstGeom prst="roundRect">
            <a:avLst>
              <a:gd fmla="val 16667" name="adj"/>
            </a:avLst>
          </a:prstGeom>
          <a:solidFill>
            <a:srgbClr val="E8F2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6"/>
          <p:cNvSpPr txBox="1"/>
          <p:nvPr/>
        </p:nvSpPr>
        <p:spPr>
          <a:xfrm>
            <a:off x="758952" y="5742432"/>
            <a:ext cx="10698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6273E"/>
                </a:solidFill>
                <a:latin typeface="Arial"/>
                <a:ea typeface="Arial"/>
                <a:cs typeface="Arial"/>
                <a:sym typeface="Arial"/>
              </a:rPr>
              <a:t>En este proyecto: avances por módulo → pruebas → correcciones, sin reuniones formales de equipo.</a:t>
            </a:r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11466576" y="283464"/>
            <a:ext cx="438912" cy="438912"/>
          </a:xfrm>
          <a:prstGeom prst="roundRect">
            <a:avLst>
              <a:gd fmla="val 16667" name="adj"/>
            </a:avLst>
          </a:prstGeom>
          <a:solidFill>
            <a:srgbClr val="E442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22" name="Google Shape;22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85448" y="402336"/>
            <a:ext cx="201168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E3E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7"/>
          <p:cNvSpPr txBox="1"/>
          <p:nvPr/>
        </p:nvSpPr>
        <p:spPr>
          <a:xfrm>
            <a:off x="502920" y="228600"/>
            <a:ext cx="7315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A697D"/>
                </a:solidFill>
                <a:latin typeface="Arial"/>
                <a:ea typeface="Arial"/>
                <a:cs typeface="Arial"/>
                <a:sym typeface="Arial"/>
              </a:rPr>
              <a:t>BOMBEROS SAN BERNARDO  /  PROYECTO APT</a:t>
            </a:r>
            <a:endParaRPr/>
          </a:p>
        </p:txBody>
      </p:sp>
      <p:sp>
        <p:nvSpPr>
          <p:cNvPr id="230" name="Google Shape;230;p7"/>
          <p:cNvSpPr txBox="1"/>
          <p:nvPr/>
        </p:nvSpPr>
        <p:spPr>
          <a:xfrm>
            <a:off x="502920" y="621792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16273E"/>
                </a:solidFill>
                <a:latin typeface="Arial"/>
                <a:ea typeface="Arial"/>
                <a:cs typeface="Arial"/>
                <a:sym typeface="Arial"/>
              </a:rPr>
              <a:t>Crystal Clear · artefactos, actividades y roles</a:t>
            </a:r>
            <a:endParaRPr/>
          </a:p>
        </p:txBody>
      </p:sp>
      <p:sp>
        <p:nvSpPr>
          <p:cNvPr id="231" name="Google Shape;231;p7"/>
          <p:cNvSpPr/>
          <p:nvPr/>
        </p:nvSpPr>
        <p:spPr>
          <a:xfrm>
            <a:off x="502920" y="1316736"/>
            <a:ext cx="950976" cy="64008"/>
          </a:xfrm>
          <a:prstGeom prst="rect">
            <a:avLst/>
          </a:prstGeom>
          <a:solidFill>
            <a:srgbClr val="DE3E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7"/>
          <p:cNvSpPr txBox="1"/>
          <p:nvPr/>
        </p:nvSpPr>
        <p:spPr>
          <a:xfrm>
            <a:off x="512064" y="6547104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A697D"/>
                </a:solidFill>
                <a:latin typeface="Arial"/>
                <a:ea typeface="Arial"/>
                <a:cs typeface="Arial"/>
                <a:sym typeface="Arial"/>
              </a:rPr>
              <a:t>METODOLOGÍA / APLICACIÓN AL CAPSTONE</a:t>
            </a:r>
            <a:endParaRPr/>
          </a:p>
        </p:txBody>
      </p:sp>
      <p:sp>
        <p:nvSpPr>
          <p:cNvPr id="233" name="Google Shape;233;p7"/>
          <p:cNvSpPr txBox="1"/>
          <p:nvPr/>
        </p:nvSpPr>
        <p:spPr>
          <a:xfrm>
            <a:off x="11292840" y="6519672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A697D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502920" y="1627632"/>
            <a:ext cx="3419856" cy="41605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1E6E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694944" y="1828800"/>
            <a:ext cx="475488" cy="475488"/>
          </a:xfrm>
          <a:prstGeom prst="roundRect">
            <a:avLst>
              <a:gd fmla="val 16667" name="adj"/>
            </a:avLst>
          </a:prstGeom>
          <a:solidFill>
            <a:srgbClr val="DE3E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7"/>
          <p:cNvSpPr txBox="1"/>
          <p:nvPr/>
        </p:nvSpPr>
        <p:spPr>
          <a:xfrm>
            <a:off x="694944" y="1947672"/>
            <a:ext cx="4754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237" name="Google Shape;237;p7"/>
          <p:cNvSpPr txBox="1"/>
          <p:nvPr/>
        </p:nvSpPr>
        <p:spPr>
          <a:xfrm>
            <a:off x="1261872" y="1892807"/>
            <a:ext cx="24323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6273E"/>
                </a:solidFill>
                <a:latin typeface="Arial"/>
                <a:ea typeface="Arial"/>
                <a:cs typeface="Arial"/>
                <a:sym typeface="Arial"/>
              </a:rPr>
              <a:t>Artefactos</a:t>
            </a:r>
            <a:endParaRPr/>
          </a:p>
        </p:txBody>
      </p:sp>
      <p:sp>
        <p:nvSpPr>
          <p:cNvPr id="238" name="Google Shape;238;p7"/>
          <p:cNvSpPr/>
          <p:nvPr/>
        </p:nvSpPr>
        <p:spPr>
          <a:xfrm>
            <a:off x="4379976" y="1627632"/>
            <a:ext cx="3419856" cy="41605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1E6E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4572000" y="1828800"/>
            <a:ext cx="475488" cy="475488"/>
          </a:xfrm>
          <a:prstGeom prst="roundRect">
            <a:avLst>
              <a:gd fmla="val 16667" name="adj"/>
            </a:avLst>
          </a:prstGeom>
          <a:solidFill>
            <a:srgbClr val="F284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7"/>
          <p:cNvSpPr txBox="1"/>
          <p:nvPr/>
        </p:nvSpPr>
        <p:spPr>
          <a:xfrm>
            <a:off x="4572000" y="1947672"/>
            <a:ext cx="4754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241" name="Google Shape;241;p7"/>
          <p:cNvSpPr txBox="1"/>
          <p:nvPr/>
        </p:nvSpPr>
        <p:spPr>
          <a:xfrm>
            <a:off x="5138928" y="1892807"/>
            <a:ext cx="24323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6273E"/>
                </a:solidFill>
                <a:latin typeface="Arial"/>
                <a:ea typeface="Arial"/>
                <a:cs typeface="Arial"/>
                <a:sym typeface="Arial"/>
              </a:rPr>
              <a:t>Actividades</a:t>
            </a:r>
            <a:endParaRPr/>
          </a:p>
        </p:txBody>
      </p:sp>
      <p:sp>
        <p:nvSpPr>
          <p:cNvPr id="242" name="Google Shape;242;p7"/>
          <p:cNvSpPr/>
          <p:nvPr/>
        </p:nvSpPr>
        <p:spPr>
          <a:xfrm>
            <a:off x="8257031" y="1627632"/>
            <a:ext cx="3419856" cy="41605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1E6E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8449056" y="1828800"/>
            <a:ext cx="475488" cy="475488"/>
          </a:xfrm>
          <a:prstGeom prst="roundRect">
            <a:avLst>
              <a:gd fmla="val 16667" name="adj"/>
            </a:avLst>
          </a:prstGeom>
          <a:solidFill>
            <a:srgbClr val="139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7"/>
          <p:cNvSpPr txBox="1"/>
          <p:nvPr/>
        </p:nvSpPr>
        <p:spPr>
          <a:xfrm>
            <a:off x="8449056" y="1947672"/>
            <a:ext cx="4754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sp>
        <p:nvSpPr>
          <p:cNvPr id="245" name="Google Shape;245;p7"/>
          <p:cNvSpPr txBox="1"/>
          <p:nvPr/>
        </p:nvSpPr>
        <p:spPr>
          <a:xfrm>
            <a:off x="9015984" y="1892807"/>
            <a:ext cx="24323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6273E"/>
                </a:solidFill>
                <a:latin typeface="Arial"/>
                <a:ea typeface="Arial"/>
                <a:cs typeface="Arial"/>
                <a:sym typeface="Arial"/>
              </a:rPr>
              <a:t>Roles</a:t>
            </a:r>
            <a:endParaRPr/>
          </a:p>
        </p:txBody>
      </p:sp>
      <p:sp>
        <p:nvSpPr>
          <p:cNvPr id="246" name="Google Shape;246;p7"/>
          <p:cNvSpPr txBox="1"/>
          <p:nvPr/>
        </p:nvSpPr>
        <p:spPr>
          <a:xfrm>
            <a:off x="749808" y="2542032"/>
            <a:ext cx="2907792" cy="24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6273E"/>
                </a:solidFill>
                <a:latin typeface="Arial"/>
                <a:ea typeface="Arial"/>
                <a:cs typeface="Arial"/>
                <a:sym typeface="Arial"/>
              </a:rPr>
              <a:t>Carta Gantt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6273E"/>
                </a:solidFill>
                <a:latin typeface="Arial"/>
                <a:ea typeface="Arial"/>
                <a:cs typeface="Arial"/>
                <a:sym typeface="Arial"/>
              </a:rPr>
              <a:t>Requerimientos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6273E"/>
                </a:solidFill>
                <a:latin typeface="Arial"/>
                <a:ea typeface="Arial"/>
                <a:cs typeface="Arial"/>
                <a:sym typeface="Arial"/>
              </a:rPr>
              <a:t>Código y base de datos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6273E"/>
                </a:solidFill>
                <a:latin typeface="Arial"/>
                <a:ea typeface="Arial"/>
                <a:cs typeface="Arial"/>
                <a:sym typeface="Arial"/>
              </a:rPr>
              <a:t>Capturas y pruebas</a:t>
            </a:r>
            <a:endParaRPr/>
          </a:p>
        </p:txBody>
      </p:sp>
      <p:sp>
        <p:nvSpPr>
          <p:cNvPr id="247" name="Google Shape;247;p7"/>
          <p:cNvSpPr/>
          <p:nvPr/>
        </p:nvSpPr>
        <p:spPr>
          <a:xfrm>
            <a:off x="731520" y="5001768"/>
            <a:ext cx="2962656" cy="13716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7"/>
          <p:cNvSpPr txBox="1"/>
          <p:nvPr/>
        </p:nvSpPr>
        <p:spPr>
          <a:xfrm>
            <a:off x="749808" y="5148072"/>
            <a:ext cx="2944368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697D"/>
                </a:solidFill>
                <a:latin typeface="Arial"/>
                <a:ea typeface="Arial"/>
                <a:cs typeface="Arial"/>
                <a:sym typeface="Arial"/>
              </a:rPr>
              <a:t>Evidencias de trabajo, adaptadas al proyecto.</a:t>
            </a:r>
            <a:endParaRPr/>
          </a:p>
        </p:txBody>
      </p:sp>
      <p:sp>
        <p:nvSpPr>
          <p:cNvPr id="249" name="Google Shape;249;p7"/>
          <p:cNvSpPr txBox="1"/>
          <p:nvPr/>
        </p:nvSpPr>
        <p:spPr>
          <a:xfrm>
            <a:off x="4626864" y="2542032"/>
            <a:ext cx="2907792" cy="24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6273E"/>
                </a:solidFill>
                <a:latin typeface="Arial"/>
                <a:ea typeface="Arial"/>
                <a:cs typeface="Arial"/>
                <a:sym typeface="Arial"/>
              </a:rPr>
              <a:t>Planificación ligera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6273E"/>
                </a:solidFill>
                <a:latin typeface="Arial"/>
                <a:ea typeface="Arial"/>
                <a:cs typeface="Arial"/>
                <a:sym typeface="Arial"/>
              </a:rPr>
              <a:t>Desarrollo por módulos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6273E"/>
                </a:solidFill>
                <a:latin typeface="Arial"/>
                <a:ea typeface="Arial"/>
                <a:cs typeface="Arial"/>
                <a:sym typeface="Arial"/>
              </a:rPr>
              <a:t>Revisión de avances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6273E"/>
                </a:solidFill>
                <a:latin typeface="Arial"/>
                <a:ea typeface="Arial"/>
                <a:cs typeface="Arial"/>
                <a:sym typeface="Arial"/>
              </a:rPr>
              <a:t>Reflexión y ajustes</a:t>
            </a:r>
            <a:endParaRPr/>
          </a:p>
        </p:txBody>
      </p:sp>
      <p:sp>
        <p:nvSpPr>
          <p:cNvPr id="250" name="Google Shape;250;p7"/>
          <p:cNvSpPr/>
          <p:nvPr/>
        </p:nvSpPr>
        <p:spPr>
          <a:xfrm>
            <a:off x="4608576" y="5001768"/>
            <a:ext cx="2962656" cy="13716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7"/>
          <p:cNvSpPr txBox="1"/>
          <p:nvPr/>
        </p:nvSpPr>
        <p:spPr>
          <a:xfrm>
            <a:off x="4626864" y="5148072"/>
            <a:ext cx="2944368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697D"/>
                </a:solidFill>
                <a:latin typeface="Arial"/>
                <a:ea typeface="Arial"/>
                <a:cs typeface="Arial"/>
                <a:sym typeface="Arial"/>
              </a:rPr>
              <a:t>No hay ceremonias fijas como en Scrum.</a:t>
            </a:r>
            <a:endParaRPr/>
          </a:p>
        </p:txBody>
      </p:sp>
      <p:sp>
        <p:nvSpPr>
          <p:cNvPr id="252" name="Google Shape;252;p7"/>
          <p:cNvSpPr txBox="1"/>
          <p:nvPr/>
        </p:nvSpPr>
        <p:spPr>
          <a:xfrm>
            <a:off x="8503919" y="2542032"/>
            <a:ext cx="2907792" cy="24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6273E"/>
                </a:solidFill>
                <a:latin typeface="Arial"/>
                <a:ea typeface="Arial"/>
                <a:cs typeface="Arial"/>
                <a:sym typeface="Arial"/>
              </a:rPr>
              <a:t>Desarrollador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6273E"/>
                </a:solidFill>
                <a:latin typeface="Arial"/>
                <a:ea typeface="Arial"/>
                <a:cs typeface="Arial"/>
                <a:sym typeface="Arial"/>
              </a:rPr>
              <a:t>Coordinador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6273E"/>
                </a:solidFill>
                <a:latin typeface="Arial"/>
                <a:ea typeface="Arial"/>
                <a:cs typeface="Arial"/>
                <a:sym typeface="Arial"/>
              </a:rPr>
              <a:t>Tester/documentador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6273E"/>
                </a:solidFill>
                <a:latin typeface="Arial"/>
                <a:ea typeface="Arial"/>
                <a:cs typeface="Arial"/>
                <a:sym typeface="Arial"/>
              </a:rPr>
              <a:t>Usuario referente: externo</a:t>
            </a:r>
            <a:endParaRPr/>
          </a:p>
        </p:txBody>
      </p:sp>
      <p:sp>
        <p:nvSpPr>
          <p:cNvPr id="253" name="Google Shape;253;p7"/>
          <p:cNvSpPr/>
          <p:nvPr/>
        </p:nvSpPr>
        <p:spPr>
          <a:xfrm>
            <a:off x="8485632" y="5001768"/>
            <a:ext cx="2962656" cy="13716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7"/>
          <p:cNvSpPr txBox="1"/>
          <p:nvPr/>
        </p:nvSpPr>
        <p:spPr>
          <a:xfrm>
            <a:off x="8503919" y="5148072"/>
            <a:ext cx="2944368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697D"/>
                </a:solidFill>
                <a:latin typeface="Arial"/>
                <a:ea typeface="Arial"/>
                <a:cs typeface="Arial"/>
                <a:sym typeface="Arial"/>
              </a:rPr>
              <a:t>Como estudiante individual, reúno varios roles.</a:t>
            </a:r>
            <a:endParaRPr/>
          </a:p>
        </p:txBody>
      </p:sp>
      <p:sp>
        <p:nvSpPr>
          <p:cNvPr id="255" name="Google Shape;255;p7"/>
          <p:cNvSpPr/>
          <p:nvPr/>
        </p:nvSpPr>
        <p:spPr>
          <a:xfrm>
            <a:off x="502920" y="5961888"/>
            <a:ext cx="11173968" cy="356616"/>
          </a:xfrm>
          <a:prstGeom prst="roundRect">
            <a:avLst>
              <a:gd fmla="val 16667" name="adj"/>
            </a:avLst>
          </a:prstGeom>
          <a:solidFill>
            <a:srgbClr val="E8F2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7"/>
          <p:cNvSpPr txBox="1"/>
          <p:nvPr/>
        </p:nvSpPr>
        <p:spPr>
          <a:xfrm>
            <a:off x="694944" y="6025896"/>
            <a:ext cx="10744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6273E"/>
                </a:solidFill>
                <a:latin typeface="Arial"/>
                <a:ea typeface="Arial"/>
                <a:cs typeface="Arial"/>
                <a:sym typeface="Arial"/>
              </a:rPr>
              <a:t>Roles del proyecto ≠ perfiles del login (administrador, encargado y bombero).</a:t>
            </a:r>
            <a:endParaRPr/>
          </a:p>
        </p:txBody>
      </p:sp>
      <p:sp>
        <p:nvSpPr>
          <p:cNvPr id="257" name="Google Shape;257;p7"/>
          <p:cNvSpPr/>
          <p:nvPr/>
        </p:nvSpPr>
        <p:spPr>
          <a:xfrm>
            <a:off x="11466576" y="283464"/>
            <a:ext cx="438912" cy="438912"/>
          </a:xfrm>
          <a:prstGeom prst="roundRect">
            <a:avLst>
              <a:gd fmla="val 16667" name="adj"/>
            </a:avLst>
          </a:prstGeom>
          <a:solidFill>
            <a:srgbClr val="E442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58" name="Google Shape;25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85448" y="402336"/>
            <a:ext cx="201168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8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34B46"/>
          </a:solidFill>
          <a:ln cap="flat" cmpd="sng" w="12700">
            <a:solidFill>
              <a:srgbClr val="E34B4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502920" y="228600"/>
            <a:ext cx="7315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BOMBEROS SAN BERNARDO  /  PROYECTO APT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502920" y="61264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2900"/>
              <a:buFont typeface="Arial"/>
              <a:buNone/>
            </a:pPr>
            <a:r>
              <a:rPr b="1" lang="en-US" sz="2900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Arquitectura de la aplicación</a:t>
            </a:r>
            <a:endParaRPr sz="2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7" name="Google Shape;267;p8"/>
          <p:cNvCxnSpPr/>
          <p:nvPr/>
        </p:nvCxnSpPr>
        <p:spPr>
          <a:xfrm>
            <a:off x="512064" y="1335024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8" name="Google Shape;268;p8"/>
          <p:cNvSpPr/>
          <p:nvPr/>
        </p:nvSpPr>
        <p:spPr>
          <a:xfrm>
            <a:off x="512064" y="6565392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TECNOLOGÍAS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11292840" y="6510528"/>
            <a:ext cx="32918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A697D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270" name="Google Shape;270;p8"/>
          <p:cNvSpPr/>
          <p:nvPr/>
        </p:nvSpPr>
        <p:spPr>
          <a:xfrm>
            <a:off x="731520" y="2048256"/>
            <a:ext cx="3246120" cy="2322576"/>
          </a:xfrm>
          <a:prstGeom prst="roundRect">
            <a:avLst>
              <a:gd fmla="val 7874" name="adj"/>
            </a:avLst>
          </a:prstGeom>
          <a:solidFill>
            <a:srgbClr val="FFFFFF"/>
          </a:solidFill>
          <a:ln cap="flat" cmpd="sng" w="12700">
            <a:solidFill>
              <a:srgbClr val="E1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950976" y="2331720"/>
            <a:ext cx="640080" cy="640080"/>
          </a:xfrm>
          <a:prstGeom prst="roundRect">
            <a:avLst>
              <a:gd fmla="val 21429" name="adj"/>
            </a:avLst>
          </a:prstGeom>
          <a:solidFill>
            <a:srgbClr val="E34B46"/>
          </a:solidFill>
          <a:ln cap="flat" cmpd="sng" w="12700">
            <a:solidFill>
              <a:srgbClr val="E34B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960120" y="3191256"/>
            <a:ext cx="27889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Interfaz web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960120" y="3675888"/>
            <a:ext cx="28072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HTML · CSS · JavaScript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4663440" y="2048256"/>
            <a:ext cx="3246120" cy="2322576"/>
          </a:xfrm>
          <a:prstGeom prst="roundRect">
            <a:avLst>
              <a:gd fmla="val 7874" name="adj"/>
            </a:avLst>
          </a:prstGeom>
          <a:solidFill>
            <a:srgbClr val="FFFFFF"/>
          </a:solidFill>
          <a:ln cap="flat" cmpd="sng" w="12700">
            <a:solidFill>
              <a:srgbClr val="E1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4882896" y="2331720"/>
            <a:ext cx="640080" cy="640080"/>
          </a:xfrm>
          <a:prstGeom prst="roundRect">
            <a:avLst>
              <a:gd fmla="val 21429" name="adj"/>
            </a:avLst>
          </a:prstGeom>
          <a:solidFill>
            <a:srgbClr val="F4A340"/>
          </a:solidFill>
          <a:ln cap="flat" cmpd="sng" w="12700">
            <a:solidFill>
              <a:srgbClr val="F4A3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4892040" y="3191256"/>
            <a:ext cx="27889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Servidor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4892040" y="3675888"/>
            <a:ext cx="28072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Flask · Python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8595360" y="2048256"/>
            <a:ext cx="3246120" cy="2322576"/>
          </a:xfrm>
          <a:prstGeom prst="roundRect">
            <a:avLst>
              <a:gd fmla="val 7874" name="adj"/>
            </a:avLst>
          </a:prstGeom>
          <a:solidFill>
            <a:srgbClr val="FFFFFF"/>
          </a:solidFill>
          <a:ln cap="flat" cmpd="sng" w="12700">
            <a:solidFill>
              <a:srgbClr val="E1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8814816" y="2331720"/>
            <a:ext cx="640080" cy="640080"/>
          </a:xfrm>
          <a:prstGeom prst="roundRect">
            <a:avLst>
              <a:gd fmla="val 21429" name="adj"/>
            </a:avLst>
          </a:prstGeom>
          <a:solidFill>
            <a:srgbClr val="25A7A1"/>
          </a:solidFill>
          <a:ln cap="flat" cmpd="sng" w="12700">
            <a:solidFill>
              <a:srgbClr val="25A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8823960" y="3191256"/>
            <a:ext cx="27889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Base de datos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8823960" y="3675888"/>
            <a:ext cx="28072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SQLite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996696" y="5056632"/>
            <a:ext cx="10149840" cy="841248"/>
          </a:xfrm>
          <a:prstGeom prst="roundRect">
            <a:avLst>
              <a:gd fmla="val 16304" name="adj"/>
            </a:avLst>
          </a:prstGeom>
          <a:solidFill>
            <a:srgbClr val="14263F"/>
          </a:solidFill>
          <a:ln cap="flat" cmpd="sng" w="12700">
            <a:solidFill>
              <a:srgbClr val="1426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1920240" y="5212080"/>
            <a:ext cx="8851392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Acceso por usuarios y compañías · Los registros se conservan al reiniciar el servidor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11466576" y="283464"/>
            <a:ext cx="438912" cy="438912"/>
          </a:xfrm>
          <a:prstGeom prst="roundRect">
            <a:avLst>
              <a:gd fmla="val 16667" name="adj"/>
            </a:avLst>
          </a:prstGeom>
          <a:solidFill>
            <a:srgbClr val="E442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85" name="Google Shape;28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85448" y="402336"/>
            <a:ext cx="201168" cy="201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0975" y="2331725"/>
            <a:ext cx="640075" cy="640075"/>
          </a:xfrm>
          <a:prstGeom prst="rect">
            <a:avLst/>
          </a:prstGeom>
          <a:solidFill>
            <a:srgbClr val="E34B46"/>
          </a:solidFill>
          <a:ln cap="flat" cmpd="sng" w="12700">
            <a:solidFill>
              <a:srgbClr val="E34B4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87" name="Google Shape;287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82899" y="2337432"/>
            <a:ext cx="640075" cy="64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23950" y="2337425"/>
            <a:ext cx="1409110" cy="667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E442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502920" y="310896"/>
            <a:ext cx="457200" cy="457200"/>
          </a:xfrm>
          <a:prstGeom prst="roundRect">
            <a:avLst>
              <a:gd fmla="val 16667" name="adj"/>
            </a:avLst>
          </a:prstGeom>
          <a:solidFill>
            <a:srgbClr val="E442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97" name="Google Shape;29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648" y="42062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9"/>
          <p:cNvSpPr txBox="1"/>
          <p:nvPr/>
        </p:nvSpPr>
        <p:spPr>
          <a:xfrm>
            <a:off x="1097280" y="374904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65758A"/>
                </a:solidFill>
                <a:latin typeface="Arial"/>
                <a:ea typeface="Arial"/>
                <a:cs typeface="Arial"/>
                <a:sym typeface="Arial"/>
              </a:rPr>
              <a:t>DESARROLLO · FUNCIONALIDADES</a:t>
            </a:r>
            <a:endParaRPr/>
          </a:p>
        </p:txBody>
      </p:sp>
      <p:sp>
        <p:nvSpPr>
          <p:cNvPr id="299" name="Google Shape;299;p9"/>
          <p:cNvSpPr txBox="1"/>
          <p:nvPr/>
        </p:nvSpPr>
        <p:spPr>
          <a:xfrm>
            <a:off x="594360" y="932688"/>
            <a:ext cx="109728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rgbClr val="14253C"/>
                </a:solidFill>
                <a:latin typeface="Arial"/>
                <a:ea typeface="Arial"/>
                <a:cs typeface="Arial"/>
                <a:sym typeface="Arial"/>
              </a:rPr>
              <a:t>Módulos implementados</a:t>
            </a:r>
            <a:endParaRPr/>
          </a:p>
        </p:txBody>
      </p:sp>
      <p:sp>
        <p:nvSpPr>
          <p:cNvPr id="300" name="Google Shape;300;p9"/>
          <p:cNvSpPr/>
          <p:nvPr/>
        </p:nvSpPr>
        <p:spPr>
          <a:xfrm>
            <a:off x="612648" y="1883664"/>
            <a:ext cx="3529584" cy="179222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DE3E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795528" y="2103120"/>
            <a:ext cx="704088" cy="704088"/>
          </a:xfrm>
          <a:prstGeom prst="roundRect">
            <a:avLst>
              <a:gd fmla="val 16667" name="adj"/>
            </a:avLst>
          </a:prstGeom>
          <a:solidFill>
            <a:srgbClr val="E442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02" name="Google Shape;30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" y="231343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9"/>
          <p:cNvSpPr txBox="1"/>
          <p:nvPr/>
        </p:nvSpPr>
        <p:spPr>
          <a:xfrm>
            <a:off x="1673352" y="2066544"/>
            <a:ext cx="226771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4253C"/>
                </a:solidFill>
                <a:latin typeface="Arial"/>
                <a:ea typeface="Arial"/>
                <a:cs typeface="Arial"/>
                <a:sym typeface="Arial"/>
              </a:rPr>
              <a:t>Inventario y alertas</a:t>
            </a:r>
            <a:endParaRPr/>
          </a:p>
        </p:txBody>
      </p:sp>
      <p:sp>
        <p:nvSpPr>
          <p:cNvPr id="304" name="Google Shape;304;p9"/>
          <p:cNvSpPr txBox="1"/>
          <p:nvPr/>
        </p:nvSpPr>
        <p:spPr>
          <a:xfrm>
            <a:off x="850392" y="2916936"/>
            <a:ext cx="30998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65758A"/>
                </a:solidFill>
                <a:latin typeface="Arial"/>
                <a:ea typeface="Arial"/>
                <a:cs typeface="Arial"/>
                <a:sym typeface="Arial"/>
              </a:rPr>
              <a:t>Registro, edición y avisos críticos</a:t>
            </a:r>
            <a:endParaRPr/>
          </a:p>
        </p:txBody>
      </p:sp>
      <p:sp>
        <p:nvSpPr>
          <p:cNvPr id="305" name="Google Shape;305;p9"/>
          <p:cNvSpPr/>
          <p:nvPr/>
        </p:nvSpPr>
        <p:spPr>
          <a:xfrm>
            <a:off x="4471416" y="1883664"/>
            <a:ext cx="3529584" cy="179222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DE3E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4654296" y="2103120"/>
            <a:ext cx="704088" cy="704088"/>
          </a:xfrm>
          <a:prstGeom prst="roundRect">
            <a:avLst>
              <a:gd fmla="val 16667" name="adj"/>
            </a:avLst>
          </a:prstGeom>
          <a:solidFill>
            <a:srgbClr val="F58B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07" name="Google Shape;30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64607" y="231343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9"/>
          <p:cNvSpPr txBox="1"/>
          <p:nvPr/>
        </p:nvSpPr>
        <p:spPr>
          <a:xfrm>
            <a:off x="5532120" y="2066544"/>
            <a:ext cx="226771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4253C"/>
                </a:solidFill>
                <a:latin typeface="Arial"/>
                <a:ea typeface="Arial"/>
                <a:cs typeface="Arial"/>
                <a:sym typeface="Arial"/>
              </a:rPr>
              <a:t>Mantenimiento</a:t>
            </a:r>
            <a:endParaRPr/>
          </a:p>
        </p:txBody>
      </p:sp>
      <p:sp>
        <p:nvSpPr>
          <p:cNvPr id="309" name="Google Shape;309;p9"/>
          <p:cNvSpPr txBox="1"/>
          <p:nvPr/>
        </p:nvSpPr>
        <p:spPr>
          <a:xfrm>
            <a:off x="4709159" y="2916936"/>
            <a:ext cx="30998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65758A"/>
                </a:solidFill>
                <a:latin typeface="Arial"/>
                <a:ea typeface="Arial"/>
                <a:cs typeface="Arial"/>
                <a:sym typeface="Arial"/>
              </a:rPr>
              <a:t>Mantenciones y reparaciones con costos</a:t>
            </a:r>
            <a:endParaRPr/>
          </a:p>
        </p:txBody>
      </p:sp>
      <p:sp>
        <p:nvSpPr>
          <p:cNvPr id="310" name="Google Shape;310;p9"/>
          <p:cNvSpPr/>
          <p:nvPr/>
        </p:nvSpPr>
        <p:spPr>
          <a:xfrm>
            <a:off x="8330183" y="1883664"/>
            <a:ext cx="3529584" cy="179222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DE3E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8513063" y="2103120"/>
            <a:ext cx="704088" cy="704088"/>
          </a:xfrm>
          <a:prstGeom prst="roundRect">
            <a:avLst>
              <a:gd fmla="val 16667" name="adj"/>
            </a:avLst>
          </a:prstGeom>
          <a:solidFill>
            <a:srgbClr val="2E77B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12" name="Google Shape;31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3376" y="231343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9"/>
          <p:cNvSpPr txBox="1"/>
          <p:nvPr/>
        </p:nvSpPr>
        <p:spPr>
          <a:xfrm>
            <a:off x="9390888" y="2066544"/>
            <a:ext cx="226771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4253C"/>
                </a:solidFill>
                <a:latin typeface="Arial"/>
                <a:ea typeface="Arial"/>
                <a:cs typeface="Arial"/>
                <a:sym typeface="Arial"/>
              </a:rPr>
              <a:t>Gastos</a:t>
            </a:r>
            <a:endParaRPr/>
          </a:p>
        </p:txBody>
      </p:sp>
      <p:sp>
        <p:nvSpPr>
          <p:cNvPr id="314" name="Google Shape;314;p9"/>
          <p:cNvSpPr txBox="1"/>
          <p:nvPr/>
        </p:nvSpPr>
        <p:spPr>
          <a:xfrm>
            <a:off x="8567928" y="2916936"/>
            <a:ext cx="30998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65758A"/>
                </a:solidFill>
                <a:latin typeface="Arial"/>
                <a:ea typeface="Arial"/>
                <a:cs typeface="Arial"/>
                <a:sym typeface="Arial"/>
              </a:rPr>
              <a:t>Control de compras y gastos en CLP</a:t>
            </a:r>
            <a:endParaRPr/>
          </a:p>
        </p:txBody>
      </p:sp>
      <p:sp>
        <p:nvSpPr>
          <p:cNvPr id="315" name="Google Shape;315;p9"/>
          <p:cNvSpPr/>
          <p:nvPr/>
        </p:nvSpPr>
        <p:spPr>
          <a:xfrm>
            <a:off x="612648" y="3913632"/>
            <a:ext cx="3529584" cy="179222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DE3E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795528" y="4133088"/>
            <a:ext cx="704088" cy="704088"/>
          </a:xfrm>
          <a:prstGeom prst="roundRect">
            <a:avLst>
              <a:gd fmla="val 16667" name="adj"/>
            </a:avLst>
          </a:prstGeom>
          <a:solidFill>
            <a:srgbClr val="1F9D9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17" name="Google Shape;317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5840" y="4343400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9"/>
          <p:cNvSpPr txBox="1"/>
          <p:nvPr/>
        </p:nvSpPr>
        <p:spPr>
          <a:xfrm>
            <a:off x="1673352" y="4096512"/>
            <a:ext cx="226771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4253C"/>
                </a:solidFill>
                <a:latin typeface="Arial"/>
                <a:ea typeface="Arial"/>
                <a:cs typeface="Arial"/>
                <a:sym typeface="Arial"/>
              </a:rPr>
              <a:t>Checklist diario</a:t>
            </a:r>
            <a:endParaRPr/>
          </a:p>
        </p:txBody>
      </p:sp>
      <p:sp>
        <p:nvSpPr>
          <p:cNvPr id="319" name="Google Shape;319;p9"/>
          <p:cNvSpPr txBox="1"/>
          <p:nvPr/>
        </p:nvSpPr>
        <p:spPr>
          <a:xfrm>
            <a:off x="850392" y="4946904"/>
            <a:ext cx="30998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65758A"/>
                </a:solidFill>
                <a:latin typeface="Arial"/>
                <a:ea typeface="Arial"/>
                <a:cs typeface="Arial"/>
                <a:sym typeface="Arial"/>
              </a:rPr>
              <a:t>Entrada y salida de vehículos</a:t>
            </a:r>
            <a:endParaRPr/>
          </a:p>
        </p:txBody>
      </p:sp>
      <p:sp>
        <p:nvSpPr>
          <p:cNvPr id="320" name="Google Shape;320;p9"/>
          <p:cNvSpPr/>
          <p:nvPr/>
        </p:nvSpPr>
        <p:spPr>
          <a:xfrm>
            <a:off x="4471416" y="3913632"/>
            <a:ext cx="3529584" cy="179222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DE3E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4654296" y="4133088"/>
            <a:ext cx="704088" cy="704088"/>
          </a:xfrm>
          <a:prstGeom prst="roundRect">
            <a:avLst>
              <a:gd fmla="val 16667" name="adj"/>
            </a:avLst>
          </a:prstGeom>
          <a:solidFill>
            <a:srgbClr val="E442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22" name="Google Shape;322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64607" y="4343400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9"/>
          <p:cNvSpPr txBox="1"/>
          <p:nvPr/>
        </p:nvSpPr>
        <p:spPr>
          <a:xfrm>
            <a:off x="5532120" y="4096512"/>
            <a:ext cx="226771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4253C"/>
                </a:solidFill>
                <a:latin typeface="Arial"/>
                <a:ea typeface="Arial"/>
                <a:cs typeface="Arial"/>
                <a:sym typeface="Arial"/>
              </a:rPr>
              <a:t>Pérdidas</a:t>
            </a:r>
            <a:endParaRPr/>
          </a:p>
        </p:txBody>
      </p:sp>
      <p:sp>
        <p:nvSpPr>
          <p:cNvPr id="324" name="Google Shape;324;p9"/>
          <p:cNvSpPr txBox="1"/>
          <p:nvPr/>
        </p:nvSpPr>
        <p:spPr>
          <a:xfrm>
            <a:off x="4709159" y="4946904"/>
            <a:ext cx="30998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65758A"/>
                </a:solidFill>
                <a:latin typeface="Arial"/>
                <a:ea typeface="Arial"/>
                <a:cs typeface="Arial"/>
                <a:sym typeface="Arial"/>
              </a:rPr>
              <a:t>Baja de existencias y valor histórico</a:t>
            </a:r>
            <a:endParaRPr/>
          </a:p>
        </p:txBody>
      </p:sp>
      <p:sp>
        <p:nvSpPr>
          <p:cNvPr id="325" name="Google Shape;325;p9"/>
          <p:cNvSpPr/>
          <p:nvPr/>
        </p:nvSpPr>
        <p:spPr>
          <a:xfrm>
            <a:off x="8330183" y="3913632"/>
            <a:ext cx="3529584" cy="179222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DE3E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8513063" y="4133088"/>
            <a:ext cx="704088" cy="704088"/>
          </a:xfrm>
          <a:prstGeom prst="roundRect">
            <a:avLst>
              <a:gd fmla="val 16667" name="adj"/>
            </a:avLst>
          </a:prstGeom>
          <a:solidFill>
            <a:srgbClr val="F58B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27" name="Google Shape;327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23376" y="4343400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9390888" y="4096512"/>
            <a:ext cx="226771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4253C"/>
                </a:solidFill>
                <a:latin typeface="Arial"/>
                <a:ea typeface="Arial"/>
                <a:cs typeface="Arial"/>
                <a:sym typeface="Arial"/>
              </a:rPr>
              <a:t>Valorización</a:t>
            </a:r>
            <a:endParaRPr/>
          </a:p>
        </p:txBody>
      </p:sp>
      <p:sp>
        <p:nvSpPr>
          <p:cNvPr id="329" name="Google Shape;329;p9"/>
          <p:cNvSpPr txBox="1"/>
          <p:nvPr/>
        </p:nvSpPr>
        <p:spPr>
          <a:xfrm>
            <a:off x="8567928" y="4946904"/>
            <a:ext cx="30998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65758A"/>
                </a:solidFill>
                <a:latin typeface="Arial"/>
                <a:ea typeface="Arial"/>
                <a:cs typeface="Arial"/>
                <a:sym typeface="Arial"/>
              </a:rPr>
              <a:t>Precio unitario y cálculo de totales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34B46"/>
          </a:solidFill>
          <a:ln cap="flat" cmpd="sng" w="12700">
            <a:solidFill>
              <a:srgbClr val="E34B4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502920" y="228600"/>
            <a:ext cx="7315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BOMBEROS SAN BERNARDO  /  PROYECTO APT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502920" y="61264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2900"/>
              <a:buFont typeface="Arial"/>
              <a:buNone/>
            </a:pPr>
            <a:r>
              <a:rPr b="1" lang="en-US" sz="2900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Inventario de San Bernardo</a:t>
            </a:r>
            <a:endParaRPr sz="2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8" name="Google Shape;338;p10"/>
          <p:cNvCxnSpPr/>
          <p:nvPr/>
        </p:nvCxnSpPr>
        <p:spPr>
          <a:xfrm>
            <a:off x="512064" y="1335024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9" name="Google Shape;339;p10"/>
          <p:cNvSpPr/>
          <p:nvPr/>
        </p:nvSpPr>
        <p:spPr>
          <a:xfrm>
            <a:off x="512064" y="6565392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EVIDENCIA REAL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11292840" y="6510528"/>
            <a:ext cx="32918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A697D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341" name="Google Shape;341;p10"/>
          <p:cNvSpPr/>
          <p:nvPr/>
        </p:nvSpPr>
        <p:spPr>
          <a:xfrm>
            <a:off x="603504" y="1682496"/>
            <a:ext cx="10314432" cy="3136392"/>
          </a:xfrm>
          <a:prstGeom prst="roundRect">
            <a:avLst>
              <a:gd fmla="val 3790" name="adj"/>
            </a:avLst>
          </a:prstGeom>
          <a:solidFill>
            <a:srgbClr val="FFFFFF"/>
          </a:solidFill>
          <a:ln cap="flat" cmpd="sng" w="12700">
            <a:solidFill>
              <a:srgbClr val="E5EB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SANDOVAL_BENJAMIN_CAPSTONE_FASE2_GITHUB/03_Evidencias_Proyecto/03_Evidencias_Sistema/Capturas/02_Inventario_San_Bernardo.png" id="342" name="Google Shape;34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3024" y="1764792"/>
            <a:ext cx="8455392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0"/>
          <p:cNvSpPr/>
          <p:nvPr/>
        </p:nvSpPr>
        <p:spPr>
          <a:xfrm>
            <a:off x="877824" y="5047488"/>
            <a:ext cx="2157984" cy="320040"/>
          </a:xfrm>
          <a:prstGeom prst="roundRect">
            <a:avLst>
              <a:gd fmla="val 37143" name="adj"/>
            </a:avLst>
          </a:prstGeom>
          <a:solidFill>
            <a:srgbClr val="E34B46"/>
          </a:solidFill>
          <a:ln cap="flat" cmpd="sng" w="12700">
            <a:solidFill>
              <a:srgbClr val="E34B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987552" y="5079492"/>
            <a:ext cx="19385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Arial"/>
              <a:buNone/>
            </a:pPr>
            <a:r>
              <a:rPr b="1" lang="en-US" sz="10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230 registros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3209544" y="5047488"/>
            <a:ext cx="2157984" cy="320040"/>
          </a:xfrm>
          <a:prstGeom prst="roundRect">
            <a:avLst>
              <a:gd fmla="val 37143" name="adj"/>
            </a:avLst>
          </a:prstGeom>
          <a:solidFill>
            <a:srgbClr val="25A7A1"/>
          </a:solidFill>
          <a:ln cap="flat" cmpd="sng" w="12700">
            <a:solidFill>
              <a:srgbClr val="25A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3319272" y="5079492"/>
            <a:ext cx="19385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Arial"/>
              <a:buNone/>
            </a:pPr>
            <a:r>
              <a:rPr b="1" lang="en-US" sz="10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503 unidades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0"/>
          <p:cNvSpPr/>
          <p:nvPr/>
        </p:nvSpPr>
        <p:spPr>
          <a:xfrm>
            <a:off x="5532120" y="5047488"/>
            <a:ext cx="2157984" cy="320040"/>
          </a:xfrm>
          <a:prstGeom prst="roundRect">
            <a:avLst>
              <a:gd fmla="val 37143" name="adj"/>
            </a:avLst>
          </a:prstGeom>
          <a:solidFill>
            <a:srgbClr val="F4A340"/>
          </a:solidFill>
          <a:ln cap="flat" cmpd="sng" w="12700">
            <a:solidFill>
              <a:srgbClr val="F4A3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5641848" y="5079492"/>
            <a:ext cx="19385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Arial"/>
              <a:buNone/>
            </a:pPr>
            <a:r>
              <a:rPr b="1" lang="en-US" sz="10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 alertas críticas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7872984" y="5047488"/>
            <a:ext cx="2157984" cy="320040"/>
          </a:xfrm>
          <a:prstGeom prst="roundRect">
            <a:avLst>
              <a:gd fmla="val 37143" name="adj"/>
            </a:avLst>
          </a:prstGeom>
          <a:solidFill>
            <a:srgbClr val="5A8BDC"/>
          </a:solidFill>
          <a:ln cap="flat" cmpd="sng" w="12700">
            <a:solidFill>
              <a:srgbClr val="5A8B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7982712" y="5079492"/>
            <a:ext cx="19385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Arial"/>
              <a:buNone/>
            </a:pPr>
            <a:r>
              <a:rPr b="1" lang="en-US" sz="10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36 por revisar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932688" y="5705856"/>
            <a:ext cx="10515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Datos actuales incluyen un artículo temporal utilizado durante las pruebas.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11466576" y="283464"/>
            <a:ext cx="438912" cy="438912"/>
          </a:xfrm>
          <a:prstGeom prst="roundRect">
            <a:avLst>
              <a:gd fmla="val 16667" name="adj"/>
            </a:avLst>
          </a:prstGeom>
          <a:solidFill>
            <a:srgbClr val="E442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53" name="Google Shape;35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85448" y="402336"/>
            <a:ext cx="201168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34B46"/>
          </a:solidFill>
          <a:ln cap="flat" cmpd="sng" w="12700">
            <a:solidFill>
              <a:srgbClr val="E34B4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1"/>
          <p:cNvSpPr/>
          <p:nvPr/>
        </p:nvSpPr>
        <p:spPr>
          <a:xfrm>
            <a:off x="502920" y="228600"/>
            <a:ext cx="7315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BOMBEROS SAN BERNARDO  /  PROYECTO APT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1"/>
          <p:cNvSpPr/>
          <p:nvPr/>
        </p:nvSpPr>
        <p:spPr>
          <a:xfrm>
            <a:off x="502920" y="61264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2900"/>
              <a:buFont typeface="Arial"/>
              <a:buNone/>
            </a:pPr>
            <a:r>
              <a:rPr b="1" lang="en-US" sz="2900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Alertas y control de materiales</a:t>
            </a:r>
            <a:endParaRPr sz="2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2" name="Google Shape;362;p11"/>
          <p:cNvCxnSpPr/>
          <p:nvPr/>
        </p:nvCxnSpPr>
        <p:spPr>
          <a:xfrm>
            <a:off x="512064" y="1335024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3" name="Google Shape;363;p11"/>
          <p:cNvSpPr/>
          <p:nvPr/>
        </p:nvSpPr>
        <p:spPr>
          <a:xfrm>
            <a:off x="512064" y="6565392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INVENTARIO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1"/>
          <p:cNvSpPr/>
          <p:nvPr/>
        </p:nvSpPr>
        <p:spPr>
          <a:xfrm>
            <a:off x="11292840" y="6510528"/>
            <a:ext cx="32918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A697D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365" name="Google Shape;365;p11"/>
          <p:cNvSpPr/>
          <p:nvPr/>
        </p:nvSpPr>
        <p:spPr>
          <a:xfrm>
            <a:off x="640080" y="1645920"/>
            <a:ext cx="3694176" cy="3108960"/>
          </a:xfrm>
          <a:prstGeom prst="roundRect">
            <a:avLst>
              <a:gd fmla="val 5294" name="adj"/>
            </a:avLst>
          </a:prstGeom>
          <a:solidFill>
            <a:srgbClr val="FFFFFF"/>
          </a:solidFill>
          <a:ln cap="flat" cmpd="sng" w="12700">
            <a:solidFill>
              <a:srgbClr val="E6E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822960" y="18288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E34B46"/>
          </a:solidFill>
          <a:ln cap="flat" cmpd="sng" w="12700">
            <a:solidFill>
              <a:srgbClr val="E34B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1"/>
          <p:cNvSpPr/>
          <p:nvPr/>
        </p:nvSpPr>
        <p:spPr>
          <a:xfrm>
            <a:off x="822960" y="2487168"/>
            <a:ext cx="33284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1900"/>
              <a:buFont typeface="Arial"/>
              <a:buNone/>
            </a:pPr>
            <a:r>
              <a:rPr b="1" lang="en-US" sz="1900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Vencimiento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1"/>
          <p:cNvSpPr/>
          <p:nvPr/>
        </p:nvSpPr>
        <p:spPr>
          <a:xfrm>
            <a:off x="822960" y="3017520"/>
            <a:ext cx="3328416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Identifica materiales con fecha vencida.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1"/>
          <p:cNvSpPr/>
          <p:nvPr/>
        </p:nvSpPr>
        <p:spPr>
          <a:xfrm>
            <a:off x="4544568" y="1645920"/>
            <a:ext cx="3694176" cy="3108960"/>
          </a:xfrm>
          <a:prstGeom prst="roundRect">
            <a:avLst>
              <a:gd fmla="val 5294" name="adj"/>
            </a:avLst>
          </a:prstGeom>
          <a:solidFill>
            <a:srgbClr val="FFFFFF"/>
          </a:solidFill>
          <a:ln cap="flat" cmpd="sng" w="12700">
            <a:solidFill>
              <a:srgbClr val="E6E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1"/>
          <p:cNvSpPr/>
          <p:nvPr/>
        </p:nvSpPr>
        <p:spPr>
          <a:xfrm>
            <a:off x="4727448" y="18288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F4A340"/>
          </a:solidFill>
          <a:ln cap="flat" cmpd="sng" w="12700">
            <a:solidFill>
              <a:srgbClr val="F4A3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1"/>
          <p:cNvSpPr/>
          <p:nvPr/>
        </p:nvSpPr>
        <p:spPr>
          <a:xfrm>
            <a:off x="4727448" y="2487168"/>
            <a:ext cx="33284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1900"/>
              <a:buFont typeface="Arial"/>
              <a:buNone/>
            </a:pPr>
            <a:r>
              <a:rPr b="1" lang="en-US" sz="1900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Sin existencias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1"/>
          <p:cNvSpPr/>
          <p:nvPr/>
        </p:nvSpPr>
        <p:spPr>
          <a:xfrm>
            <a:off x="4727448" y="3017520"/>
            <a:ext cx="3328416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Detecta artículos cuya cantidad es cero.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1"/>
          <p:cNvSpPr/>
          <p:nvPr/>
        </p:nvSpPr>
        <p:spPr>
          <a:xfrm>
            <a:off x="8449056" y="1645920"/>
            <a:ext cx="3694176" cy="3108960"/>
          </a:xfrm>
          <a:prstGeom prst="roundRect">
            <a:avLst>
              <a:gd fmla="val 5294" name="adj"/>
            </a:avLst>
          </a:prstGeom>
          <a:solidFill>
            <a:srgbClr val="FFFFFF"/>
          </a:solidFill>
          <a:ln cap="flat" cmpd="sng" w="12700">
            <a:solidFill>
              <a:srgbClr val="E6E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1"/>
          <p:cNvSpPr/>
          <p:nvPr/>
        </p:nvSpPr>
        <p:spPr>
          <a:xfrm>
            <a:off x="8631936" y="18288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5A7A1"/>
          </a:solidFill>
          <a:ln cap="flat" cmpd="sng" w="12700">
            <a:solidFill>
              <a:srgbClr val="25A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1"/>
          <p:cNvSpPr/>
          <p:nvPr/>
        </p:nvSpPr>
        <p:spPr>
          <a:xfrm>
            <a:off x="8631936" y="2487168"/>
            <a:ext cx="33284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1900"/>
              <a:buFont typeface="Arial"/>
              <a:buNone/>
            </a:pPr>
            <a:r>
              <a:rPr b="1" lang="en-US" sz="1900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Estado malo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1"/>
          <p:cNvSpPr/>
          <p:nvPr/>
        </p:nvSpPr>
        <p:spPr>
          <a:xfrm>
            <a:off x="8631936" y="3017520"/>
            <a:ext cx="3328416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Señala elementos marcados en malas condiciones.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1"/>
          <p:cNvSpPr/>
          <p:nvPr/>
        </p:nvSpPr>
        <p:spPr>
          <a:xfrm>
            <a:off x="1005840" y="5047488"/>
            <a:ext cx="10131552" cy="868680"/>
          </a:xfrm>
          <a:prstGeom prst="roundRect">
            <a:avLst>
              <a:gd fmla="val 15789" name="adj"/>
            </a:avLst>
          </a:prstGeom>
          <a:solidFill>
            <a:srgbClr val="14263F"/>
          </a:solidFill>
          <a:ln cap="flat" cmpd="sng" w="12700">
            <a:solidFill>
              <a:srgbClr val="1426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1"/>
          <p:cNvSpPr/>
          <p:nvPr/>
        </p:nvSpPr>
        <p:spPr>
          <a:xfrm>
            <a:off x="1353312" y="5212080"/>
            <a:ext cx="94823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 listado permite priorizar revisiones; la precisión depende de que los datos se mantengan actualizados.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1"/>
          <p:cNvSpPr/>
          <p:nvPr/>
        </p:nvSpPr>
        <p:spPr>
          <a:xfrm>
            <a:off x="11466576" y="283464"/>
            <a:ext cx="438912" cy="438912"/>
          </a:xfrm>
          <a:prstGeom prst="roundRect">
            <a:avLst>
              <a:gd fmla="val 16667" name="adj"/>
            </a:avLst>
          </a:prstGeom>
          <a:solidFill>
            <a:srgbClr val="E442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80" name="Google Shape;38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85448" y="402336"/>
            <a:ext cx="201168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34B46"/>
          </a:solidFill>
          <a:ln cap="flat" cmpd="sng" w="12700">
            <a:solidFill>
              <a:srgbClr val="E34B4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2"/>
          <p:cNvSpPr/>
          <p:nvPr/>
        </p:nvSpPr>
        <p:spPr>
          <a:xfrm>
            <a:off x="502920" y="228600"/>
            <a:ext cx="7315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BOMBEROS SAN BERNARDO  /  PROYECTO APT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2"/>
          <p:cNvSpPr/>
          <p:nvPr/>
        </p:nvSpPr>
        <p:spPr>
          <a:xfrm>
            <a:off x="502920" y="61264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2900"/>
              <a:buFont typeface="Arial"/>
              <a:buNone/>
            </a:pPr>
            <a:r>
              <a:rPr b="1" lang="en-US" sz="2900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Mantenimiento y control de gastos</a:t>
            </a:r>
            <a:endParaRPr sz="2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9" name="Google Shape;389;p12"/>
          <p:cNvCxnSpPr/>
          <p:nvPr/>
        </p:nvCxnSpPr>
        <p:spPr>
          <a:xfrm>
            <a:off x="512064" y="1335024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0" name="Google Shape;390;p12"/>
          <p:cNvSpPr/>
          <p:nvPr/>
        </p:nvSpPr>
        <p:spPr>
          <a:xfrm>
            <a:off x="512064" y="6565392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OPERACIÓN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2"/>
          <p:cNvSpPr/>
          <p:nvPr/>
        </p:nvSpPr>
        <p:spPr>
          <a:xfrm>
            <a:off x="11292840" y="6510528"/>
            <a:ext cx="32918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A697D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sp>
        <p:nvSpPr>
          <p:cNvPr id="392" name="Google Shape;392;p12"/>
          <p:cNvSpPr/>
          <p:nvPr/>
        </p:nvSpPr>
        <p:spPr>
          <a:xfrm>
            <a:off x="557784" y="1709928"/>
            <a:ext cx="5650992" cy="2542032"/>
          </a:xfrm>
          <a:prstGeom prst="roundRect">
            <a:avLst>
              <a:gd fmla="val 4676" name="adj"/>
            </a:avLst>
          </a:prstGeom>
          <a:solidFill>
            <a:srgbClr val="FFFFFF"/>
          </a:solidFill>
          <a:ln cap="flat" cmpd="sng" w="12700">
            <a:solidFill>
              <a:srgbClr val="E5EB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SANDOVAL_BENJAMIN_CAPSTONE_FASE2_GITHUB/03_Evidencias_Proyecto/03_Evidencias_Sistema/Capturas/05_Mantenimiento_prueba.png" id="393" name="Google Shape;39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2109205"/>
            <a:ext cx="5486400" cy="1743477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12"/>
          <p:cNvSpPr/>
          <p:nvPr/>
        </p:nvSpPr>
        <p:spPr>
          <a:xfrm>
            <a:off x="6355080" y="1709928"/>
            <a:ext cx="5266944" cy="2542032"/>
          </a:xfrm>
          <a:prstGeom prst="roundRect">
            <a:avLst>
              <a:gd fmla="val 4676" name="adj"/>
            </a:avLst>
          </a:prstGeom>
          <a:solidFill>
            <a:srgbClr val="FFFFFF"/>
          </a:solidFill>
          <a:ln cap="flat" cmpd="sng" w="12700">
            <a:solidFill>
              <a:srgbClr val="E5EB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SANDOVAL_BENJAMIN_CAPSTONE_FASE2_GITHUB/03_Evidencias_Proyecto/03_Evidencias_Sistema/Capturas/06_Gastos_prueba.png" id="395" name="Google Shape;39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37376" y="2322867"/>
            <a:ext cx="5102352" cy="1316154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12"/>
          <p:cNvSpPr/>
          <p:nvPr/>
        </p:nvSpPr>
        <p:spPr>
          <a:xfrm>
            <a:off x="731520" y="4617720"/>
            <a:ext cx="5358384" cy="1088136"/>
          </a:xfrm>
          <a:prstGeom prst="roundRect">
            <a:avLst>
              <a:gd fmla="val 13445" name="adj"/>
            </a:avLst>
          </a:prstGeom>
          <a:solidFill>
            <a:srgbClr val="FFFFFF"/>
          </a:solidFill>
          <a:ln cap="flat" cmpd="sng" w="12700">
            <a:solidFill>
              <a:srgbClr val="E5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2"/>
          <p:cNvSpPr/>
          <p:nvPr/>
        </p:nvSpPr>
        <p:spPr>
          <a:xfrm>
            <a:off x="1444752" y="4818888"/>
            <a:ext cx="445312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Mantención de prueba: $100.000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2"/>
          <p:cNvSpPr/>
          <p:nvPr/>
        </p:nvSpPr>
        <p:spPr>
          <a:xfrm>
            <a:off x="6245352" y="4617720"/>
            <a:ext cx="5212080" cy="1088136"/>
          </a:xfrm>
          <a:prstGeom prst="roundRect">
            <a:avLst>
              <a:gd fmla="val 13445" name="adj"/>
            </a:avLst>
          </a:prstGeom>
          <a:solidFill>
            <a:srgbClr val="FFFFFF"/>
          </a:solidFill>
          <a:ln cap="flat" cmpd="sng" w="12700">
            <a:solidFill>
              <a:srgbClr val="E5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2"/>
          <p:cNvSpPr/>
          <p:nvPr/>
        </p:nvSpPr>
        <p:spPr>
          <a:xfrm>
            <a:off x="6986016" y="4818888"/>
            <a:ext cx="413308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Gasto de prueba: $21.000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2"/>
          <p:cNvSpPr/>
          <p:nvPr/>
        </p:nvSpPr>
        <p:spPr>
          <a:xfrm>
            <a:off x="11466576" y="283464"/>
            <a:ext cx="438912" cy="438912"/>
          </a:xfrm>
          <a:prstGeom prst="roundRect">
            <a:avLst>
              <a:gd fmla="val 16667" name="adj"/>
            </a:avLst>
          </a:prstGeom>
          <a:solidFill>
            <a:srgbClr val="E442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01" name="Google Shape;401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85448" y="402336"/>
            <a:ext cx="201168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34B46"/>
          </a:solidFill>
          <a:ln cap="flat" cmpd="sng" w="12700">
            <a:solidFill>
              <a:srgbClr val="E34B4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3"/>
          <p:cNvSpPr/>
          <p:nvPr/>
        </p:nvSpPr>
        <p:spPr>
          <a:xfrm>
            <a:off x="502920" y="228600"/>
            <a:ext cx="7315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BOMBEROS SAN BERNARDO  /  PROYECTO APT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3"/>
          <p:cNvSpPr/>
          <p:nvPr/>
        </p:nvSpPr>
        <p:spPr>
          <a:xfrm>
            <a:off x="502920" y="61264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2900"/>
              <a:buFont typeface="Arial"/>
              <a:buNone/>
            </a:pPr>
            <a:r>
              <a:rPr b="1" lang="en-US" sz="2900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Checklist diario de entrada y salida</a:t>
            </a:r>
            <a:endParaRPr sz="2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0" name="Google Shape;410;p13"/>
          <p:cNvCxnSpPr/>
          <p:nvPr/>
        </p:nvCxnSpPr>
        <p:spPr>
          <a:xfrm>
            <a:off x="512064" y="1335024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1" name="Google Shape;411;p13"/>
          <p:cNvSpPr/>
          <p:nvPr/>
        </p:nvSpPr>
        <p:spPr>
          <a:xfrm>
            <a:off x="512064" y="6565392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OPERACIÓN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3"/>
          <p:cNvSpPr/>
          <p:nvPr/>
        </p:nvSpPr>
        <p:spPr>
          <a:xfrm>
            <a:off x="11292840" y="6510528"/>
            <a:ext cx="32918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A697D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sp>
        <p:nvSpPr>
          <p:cNvPr id="413" name="Google Shape;413;p13"/>
          <p:cNvSpPr/>
          <p:nvPr/>
        </p:nvSpPr>
        <p:spPr>
          <a:xfrm>
            <a:off x="649224" y="1655064"/>
            <a:ext cx="10917936" cy="2926080"/>
          </a:xfrm>
          <a:prstGeom prst="roundRect">
            <a:avLst>
              <a:gd fmla="val 4063" name="adj"/>
            </a:avLst>
          </a:prstGeom>
          <a:solidFill>
            <a:srgbClr val="FFFFFF"/>
          </a:solidFill>
          <a:ln cap="flat" cmpd="sng" w="12700">
            <a:solidFill>
              <a:srgbClr val="E5EB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SANDOVAL_BENJAMIN_CAPSTONE_FASE2_GITHUB/03_Evidencias_Proyecto/03_Evidencias_Sistema/Capturas/07_Checklist_prueba.png" id="414" name="Google Shape;41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0608" y="1737360"/>
            <a:ext cx="9255169" cy="2761488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13"/>
          <p:cNvSpPr/>
          <p:nvPr/>
        </p:nvSpPr>
        <p:spPr>
          <a:xfrm>
            <a:off x="914400" y="4745736"/>
            <a:ext cx="10396728" cy="1042416"/>
          </a:xfrm>
          <a:prstGeom prst="roundRect">
            <a:avLst>
              <a:gd fmla="val 13158" name="adj"/>
            </a:avLst>
          </a:prstGeom>
          <a:solidFill>
            <a:srgbClr val="14263F"/>
          </a:solidFill>
          <a:ln cap="flat" cmpd="sng" w="12700">
            <a:solidFill>
              <a:srgbClr val="1426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3"/>
          <p:cNvSpPr/>
          <p:nvPr/>
        </p:nvSpPr>
        <p:spPr>
          <a:xfrm>
            <a:off x="1810512" y="4901184"/>
            <a:ext cx="9189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lang="en-US" sz="1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Registro local de una revisión de entrada, con responsable y equipos conformes.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3"/>
          <p:cNvSpPr/>
          <p:nvPr/>
        </p:nvSpPr>
        <p:spPr>
          <a:xfrm>
            <a:off x="11466576" y="283464"/>
            <a:ext cx="438912" cy="438912"/>
          </a:xfrm>
          <a:prstGeom prst="roundRect">
            <a:avLst>
              <a:gd fmla="val 16667" name="adj"/>
            </a:avLst>
          </a:prstGeom>
          <a:solidFill>
            <a:srgbClr val="E442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18" name="Google Shape;41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85448" y="402336"/>
            <a:ext cx="201168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34B46"/>
          </a:solidFill>
          <a:ln cap="flat" cmpd="sng" w="12700">
            <a:solidFill>
              <a:srgbClr val="E34B4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4"/>
          <p:cNvSpPr/>
          <p:nvPr/>
        </p:nvSpPr>
        <p:spPr>
          <a:xfrm>
            <a:off x="502920" y="228600"/>
            <a:ext cx="7315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BOMBEROS SAN BERNARDO  /  PROYECTO APT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4"/>
          <p:cNvSpPr/>
          <p:nvPr/>
        </p:nvSpPr>
        <p:spPr>
          <a:xfrm>
            <a:off x="502920" y="61264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2900"/>
              <a:buFont typeface="Arial"/>
              <a:buNone/>
            </a:pPr>
            <a:r>
              <a:rPr b="1" lang="en-US" sz="2900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Valorización y pérdidas</a:t>
            </a:r>
            <a:endParaRPr sz="2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7" name="Google Shape;427;p14"/>
          <p:cNvCxnSpPr/>
          <p:nvPr/>
        </p:nvCxnSpPr>
        <p:spPr>
          <a:xfrm>
            <a:off x="512064" y="1335024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8" name="Google Shape;428;p14"/>
          <p:cNvSpPr/>
          <p:nvPr/>
        </p:nvSpPr>
        <p:spPr>
          <a:xfrm>
            <a:off x="512064" y="6565392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GESTIÓN MONETARIA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4"/>
          <p:cNvSpPr/>
          <p:nvPr/>
        </p:nvSpPr>
        <p:spPr>
          <a:xfrm>
            <a:off x="11292840" y="6510528"/>
            <a:ext cx="32918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A697D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sp>
        <p:nvSpPr>
          <p:cNvPr id="430" name="Google Shape;430;p14"/>
          <p:cNvSpPr/>
          <p:nvPr/>
        </p:nvSpPr>
        <p:spPr>
          <a:xfrm>
            <a:off x="576072" y="1673352"/>
            <a:ext cx="11009376" cy="1481328"/>
          </a:xfrm>
          <a:prstGeom prst="roundRect">
            <a:avLst>
              <a:gd fmla="val 8025" name="adj"/>
            </a:avLst>
          </a:prstGeom>
          <a:solidFill>
            <a:srgbClr val="FFFFFF"/>
          </a:solidFill>
          <a:ln cap="flat" cmpd="sng" w="12700">
            <a:solidFill>
              <a:srgbClr val="E5EB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SANDOVAL_BENJAMIN_CAPSTONE_FASE2_GITHUB/03_Evidencias_Proyecto/03_Evidencias_Sistema/Capturas/04_Valorizacion_parcial.png" id="431" name="Google Shape;43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1820181"/>
            <a:ext cx="10844784" cy="1187669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14"/>
          <p:cNvSpPr/>
          <p:nvPr/>
        </p:nvSpPr>
        <p:spPr>
          <a:xfrm>
            <a:off x="603504" y="3291840"/>
            <a:ext cx="10981944" cy="2203704"/>
          </a:xfrm>
          <a:prstGeom prst="roundRect">
            <a:avLst>
              <a:gd fmla="val 5394" name="adj"/>
            </a:avLst>
          </a:prstGeom>
          <a:solidFill>
            <a:srgbClr val="FFFFFF"/>
          </a:solidFill>
          <a:ln cap="flat" cmpd="sng" w="12700">
            <a:solidFill>
              <a:srgbClr val="E5EB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SANDOVAL_BENJAMIN_CAPSTONE_FASE2_GITHUB/03_Evidencias_Proyecto/03_Evidencias_Sistema/Capturas/08_Perdida_prueba.png" id="433" name="Google Shape;43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9999" y="3374136"/>
            <a:ext cx="7168954" cy="2039112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14"/>
          <p:cNvSpPr/>
          <p:nvPr/>
        </p:nvSpPr>
        <p:spPr>
          <a:xfrm>
            <a:off x="841248" y="5623560"/>
            <a:ext cx="105887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4B46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E34B46"/>
                </a:solidFill>
                <a:latin typeface="Arial"/>
                <a:ea typeface="Arial"/>
                <a:cs typeface="Arial"/>
                <a:sym typeface="Arial"/>
              </a:rPr>
              <a:t>La valorización es parcial: en la captura, 1 registro tiene precio asignado.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4"/>
          <p:cNvSpPr/>
          <p:nvPr/>
        </p:nvSpPr>
        <p:spPr>
          <a:xfrm>
            <a:off x="11466576" y="283464"/>
            <a:ext cx="438912" cy="438912"/>
          </a:xfrm>
          <a:prstGeom prst="roundRect">
            <a:avLst>
              <a:gd fmla="val 16667" name="adj"/>
            </a:avLst>
          </a:prstGeom>
          <a:solidFill>
            <a:srgbClr val="E442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36" name="Google Shape;43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85448" y="402336"/>
            <a:ext cx="201168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34B46"/>
          </a:solidFill>
          <a:ln cap="flat" cmpd="sng" w="12700">
            <a:solidFill>
              <a:srgbClr val="E34B4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5"/>
          <p:cNvSpPr/>
          <p:nvPr/>
        </p:nvSpPr>
        <p:spPr>
          <a:xfrm>
            <a:off x="502920" y="228600"/>
            <a:ext cx="7315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BOMBEROS SAN BERNARDO  /  PROYECTO APT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5"/>
          <p:cNvSpPr/>
          <p:nvPr/>
        </p:nvSpPr>
        <p:spPr>
          <a:xfrm>
            <a:off x="502920" y="61264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2900"/>
              <a:buFont typeface="Arial"/>
              <a:buNone/>
            </a:pPr>
            <a:r>
              <a:rPr b="1" lang="en-US" sz="2900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Login y perfiles de usuario</a:t>
            </a:r>
            <a:endParaRPr sz="2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5" name="Google Shape;445;p15"/>
          <p:cNvCxnSpPr/>
          <p:nvPr/>
        </p:nvCxnSpPr>
        <p:spPr>
          <a:xfrm>
            <a:off x="512064" y="1335024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6" name="Google Shape;446;p15"/>
          <p:cNvSpPr/>
          <p:nvPr/>
        </p:nvSpPr>
        <p:spPr>
          <a:xfrm>
            <a:off x="512064" y="6565392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ACCESO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5"/>
          <p:cNvSpPr/>
          <p:nvPr/>
        </p:nvSpPr>
        <p:spPr>
          <a:xfrm>
            <a:off x="11292840" y="6510528"/>
            <a:ext cx="32918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A697D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  <p:sp>
        <p:nvSpPr>
          <p:cNvPr id="448" name="Google Shape;448;p15"/>
          <p:cNvSpPr/>
          <p:nvPr/>
        </p:nvSpPr>
        <p:spPr>
          <a:xfrm>
            <a:off x="585216" y="1655064"/>
            <a:ext cx="5285232" cy="3255264"/>
          </a:xfrm>
          <a:prstGeom prst="roundRect">
            <a:avLst>
              <a:gd fmla="val 3652" name="adj"/>
            </a:avLst>
          </a:prstGeom>
          <a:solidFill>
            <a:srgbClr val="FFFFFF"/>
          </a:solidFill>
          <a:ln cap="flat" cmpd="sng" w="12700">
            <a:solidFill>
              <a:srgbClr val="E5EB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SANDOVAL_BENJAMIN_CAPSTONE_FASE2_GITHUB/03_Evidencias_Proyecto/03_Evidencias_Sistema/Capturas/01_Inicio_sesion.png" id="449" name="Google Shape;44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512" y="2397321"/>
            <a:ext cx="5120640" cy="177075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15"/>
          <p:cNvSpPr/>
          <p:nvPr/>
        </p:nvSpPr>
        <p:spPr>
          <a:xfrm>
            <a:off x="6099048" y="1746504"/>
            <a:ext cx="5330952" cy="1069848"/>
          </a:xfrm>
          <a:prstGeom prst="roundRect">
            <a:avLst>
              <a:gd fmla="val 13675" name="adj"/>
            </a:avLst>
          </a:prstGeom>
          <a:solidFill>
            <a:srgbClr val="FFFFFF"/>
          </a:solidFill>
          <a:ln cap="flat" cmpd="sng" w="12700">
            <a:solidFill>
              <a:srgbClr val="E5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5"/>
          <p:cNvSpPr/>
          <p:nvPr/>
        </p:nvSpPr>
        <p:spPr>
          <a:xfrm>
            <a:off x="6291072" y="1984248"/>
            <a:ext cx="512064" cy="512064"/>
          </a:xfrm>
          <a:prstGeom prst="roundRect">
            <a:avLst>
              <a:gd fmla="val 23214" name="adj"/>
            </a:avLst>
          </a:prstGeom>
          <a:solidFill>
            <a:srgbClr val="E34B46"/>
          </a:solidFill>
          <a:ln cap="flat" cmpd="sng" w="12700">
            <a:solidFill>
              <a:srgbClr val="E34B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5"/>
          <p:cNvSpPr/>
          <p:nvPr/>
        </p:nvSpPr>
        <p:spPr>
          <a:xfrm>
            <a:off x="7031736" y="1901952"/>
            <a:ext cx="4197096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Administrador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5"/>
          <p:cNvSpPr/>
          <p:nvPr/>
        </p:nvSpPr>
        <p:spPr>
          <a:xfrm>
            <a:off x="7031736" y="2258568"/>
            <a:ext cx="416966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1280"/>
              <a:buFont typeface="Arial"/>
              <a:buNone/>
            </a:pPr>
            <a:r>
              <a:rPr lang="en-US" sz="1280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Gestiona compañías y usuarios</a:t>
            </a:r>
            <a:endParaRPr sz="12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5"/>
          <p:cNvSpPr/>
          <p:nvPr/>
        </p:nvSpPr>
        <p:spPr>
          <a:xfrm>
            <a:off x="6099048" y="2990088"/>
            <a:ext cx="5330952" cy="1069848"/>
          </a:xfrm>
          <a:prstGeom prst="roundRect">
            <a:avLst>
              <a:gd fmla="val 13675" name="adj"/>
            </a:avLst>
          </a:prstGeom>
          <a:solidFill>
            <a:srgbClr val="FFFFFF"/>
          </a:solidFill>
          <a:ln cap="flat" cmpd="sng" w="12700">
            <a:solidFill>
              <a:srgbClr val="E5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5"/>
          <p:cNvSpPr/>
          <p:nvPr/>
        </p:nvSpPr>
        <p:spPr>
          <a:xfrm>
            <a:off x="6291072" y="3227832"/>
            <a:ext cx="512064" cy="512064"/>
          </a:xfrm>
          <a:prstGeom prst="roundRect">
            <a:avLst>
              <a:gd fmla="val 23214" name="adj"/>
            </a:avLst>
          </a:prstGeom>
          <a:solidFill>
            <a:srgbClr val="F4A340"/>
          </a:solidFill>
          <a:ln cap="flat" cmpd="sng" w="12700">
            <a:solidFill>
              <a:srgbClr val="F4A3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5"/>
          <p:cNvSpPr/>
          <p:nvPr/>
        </p:nvSpPr>
        <p:spPr>
          <a:xfrm>
            <a:off x="7031736" y="3145536"/>
            <a:ext cx="4197096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Encargado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5"/>
          <p:cNvSpPr/>
          <p:nvPr/>
        </p:nvSpPr>
        <p:spPr>
          <a:xfrm>
            <a:off x="7031736" y="3502152"/>
            <a:ext cx="416966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1280"/>
              <a:buFont typeface="Arial"/>
              <a:buNone/>
            </a:pPr>
            <a:r>
              <a:rPr lang="en-US" sz="1280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Administra registros de su compañía</a:t>
            </a:r>
            <a:endParaRPr sz="12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5"/>
          <p:cNvSpPr/>
          <p:nvPr/>
        </p:nvSpPr>
        <p:spPr>
          <a:xfrm>
            <a:off x="6099048" y="4233672"/>
            <a:ext cx="5330952" cy="1069848"/>
          </a:xfrm>
          <a:prstGeom prst="roundRect">
            <a:avLst>
              <a:gd fmla="val 13675" name="adj"/>
            </a:avLst>
          </a:prstGeom>
          <a:solidFill>
            <a:srgbClr val="FFFFFF"/>
          </a:solidFill>
          <a:ln cap="flat" cmpd="sng" w="12700">
            <a:solidFill>
              <a:srgbClr val="E5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5"/>
          <p:cNvSpPr/>
          <p:nvPr/>
        </p:nvSpPr>
        <p:spPr>
          <a:xfrm>
            <a:off x="6291072" y="4471416"/>
            <a:ext cx="512064" cy="512064"/>
          </a:xfrm>
          <a:prstGeom prst="roundRect">
            <a:avLst>
              <a:gd fmla="val 23214" name="adj"/>
            </a:avLst>
          </a:prstGeom>
          <a:solidFill>
            <a:srgbClr val="25A7A1"/>
          </a:solidFill>
          <a:ln cap="flat" cmpd="sng" w="12700">
            <a:solidFill>
              <a:srgbClr val="25A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5"/>
          <p:cNvSpPr/>
          <p:nvPr/>
        </p:nvSpPr>
        <p:spPr>
          <a:xfrm>
            <a:off x="7031736" y="4389120"/>
            <a:ext cx="4197096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Bombero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5"/>
          <p:cNvSpPr/>
          <p:nvPr/>
        </p:nvSpPr>
        <p:spPr>
          <a:xfrm>
            <a:off x="7031736" y="4745736"/>
            <a:ext cx="416966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1280"/>
              <a:buFont typeface="Arial"/>
              <a:buNone/>
            </a:pPr>
            <a:r>
              <a:rPr lang="en-US" sz="1280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Consulta y registra revisiones permitidas</a:t>
            </a:r>
            <a:endParaRPr sz="12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5"/>
          <p:cNvSpPr/>
          <p:nvPr/>
        </p:nvSpPr>
        <p:spPr>
          <a:xfrm>
            <a:off x="11466576" y="283464"/>
            <a:ext cx="438912" cy="438912"/>
          </a:xfrm>
          <a:prstGeom prst="roundRect">
            <a:avLst>
              <a:gd fmla="val 16667" name="adj"/>
            </a:avLst>
          </a:prstGeom>
          <a:solidFill>
            <a:srgbClr val="E442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63" name="Google Shape;46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85448" y="402336"/>
            <a:ext cx="201168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34B46"/>
          </a:solidFill>
          <a:ln cap="flat" cmpd="sng" w="12700">
            <a:solidFill>
              <a:srgbClr val="E34B4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16"/>
          <p:cNvSpPr/>
          <p:nvPr/>
        </p:nvSpPr>
        <p:spPr>
          <a:xfrm>
            <a:off x="502920" y="228600"/>
            <a:ext cx="7315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BOMBEROS SAN BERNARDO  /  PROYECTO APT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16"/>
          <p:cNvSpPr/>
          <p:nvPr/>
        </p:nvSpPr>
        <p:spPr>
          <a:xfrm>
            <a:off x="502920" y="61264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2900"/>
              <a:buFont typeface="Arial"/>
              <a:buNone/>
            </a:pPr>
            <a:r>
              <a:rPr b="1" lang="en-US" sz="2900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Separación de inventarios por compañía</a:t>
            </a:r>
            <a:endParaRPr sz="2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2" name="Google Shape;472;p16"/>
          <p:cNvCxnSpPr/>
          <p:nvPr/>
        </p:nvCxnSpPr>
        <p:spPr>
          <a:xfrm>
            <a:off x="512064" y="1335024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3" name="Google Shape;473;p16"/>
          <p:cNvSpPr/>
          <p:nvPr/>
        </p:nvSpPr>
        <p:spPr>
          <a:xfrm>
            <a:off x="512064" y="6565392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ESCALABILIDAD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6"/>
          <p:cNvSpPr/>
          <p:nvPr/>
        </p:nvSpPr>
        <p:spPr>
          <a:xfrm>
            <a:off x="11292840" y="6510528"/>
            <a:ext cx="32918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A697D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/>
          </a:p>
        </p:txBody>
      </p:sp>
      <p:sp>
        <p:nvSpPr>
          <p:cNvPr id="475" name="Google Shape;475;p16"/>
          <p:cNvSpPr/>
          <p:nvPr/>
        </p:nvSpPr>
        <p:spPr>
          <a:xfrm>
            <a:off x="640080" y="1728216"/>
            <a:ext cx="5513832" cy="1024128"/>
          </a:xfrm>
          <a:prstGeom prst="roundRect">
            <a:avLst>
              <a:gd fmla="val 15179" name="adj"/>
            </a:avLst>
          </a:prstGeom>
          <a:solidFill>
            <a:srgbClr val="E34B46"/>
          </a:solidFill>
          <a:ln cap="flat" cmpd="sng" w="12700">
            <a:solidFill>
              <a:srgbClr val="E34B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6"/>
          <p:cNvSpPr/>
          <p:nvPr/>
        </p:nvSpPr>
        <p:spPr>
          <a:xfrm>
            <a:off x="1389888" y="1892808"/>
            <a:ext cx="451713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Compañía inicial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6"/>
          <p:cNvSpPr/>
          <p:nvPr/>
        </p:nvSpPr>
        <p:spPr>
          <a:xfrm>
            <a:off x="841248" y="3026664"/>
            <a:ext cx="508406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San Bernardo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6"/>
          <p:cNvSpPr/>
          <p:nvPr/>
        </p:nvSpPr>
        <p:spPr>
          <a:xfrm>
            <a:off x="841248" y="3493008"/>
            <a:ext cx="50840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230 registros en captura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6"/>
          <p:cNvSpPr/>
          <p:nvPr/>
        </p:nvSpPr>
        <p:spPr>
          <a:xfrm>
            <a:off x="713232" y="3895344"/>
            <a:ext cx="5358384" cy="1353312"/>
          </a:xfrm>
          <a:prstGeom prst="roundRect">
            <a:avLst>
              <a:gd fmla="val 8784" name="adj"/>
            </a:avLst>
          </a:prstGeom>
          <a:solidFill>
            <a:srgbClr val="FFFFFF"/>
          </a:solidFill>
          <a:ln cap="flat" cmpd="sng" w="12700">
            <a:solidFill>
              <a:srgbClr val="E5EB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SANDOVAL_BENJAMIN_CAPSTONE_FASE2_GITHUB/03_Evidencias_Proyecto/03_Evidencias_Sistema/Capturas/02_Inventario_San_Bernardo.png" id="480" name="Google Shape;48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1346" y="3977640"/>
            <a:ext cx="3382157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16"/>
          <p:cNvSpPr/>
          <p:nvPr/>
        </p:nvSpPr>
        <p:spPr>
          <a:xfrm>
            <a:off x="6501384" y="1728216"/>
            <a:ext cx="5513832" cy="1024128"/>
          </a:xfrm>
          <a:prstGeom prst="roundRect">
            <a:avLst>
              <a:gd fmla="val 15179" name="adj"/>
            </a:avLst>
          </a:prstGeom>
          <a:solidFill>
            <a:srgbClr val="5A8BDC"/>
          </a:solidFill>
          <a:ln cap="flat" cmpd="sng" w="12700">
            <a:solidFill>
              <a:srgbClr val="5A8B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6"/>
          <p:cNvSpPr/>
          <p:nvPr/>
        </p:nvSpPr>
        <p:spPr>
          <a:xfrm>
            <a:off x="7251192" y="1892808"/>
            <a:ext cx="451713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Compañía de prueba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16"/>
          <p:cNvSpPr/>
          <p:nvPr/>
        </p:nvSpPr>
        <p:spPr>
          <a:xfrm>
            <a:off x="6702552" y="3026664"/>
            <a:ext cx="508406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Inventario independiente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6"/>
          <p:cNvSpPr/>
          <p:nvPr/>
        </p:nvSpPr>
        <p:spPr>
          <a:xfrm>
            <a:off x="6702552" y="3493008"/>
            <a:ext cx="50840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1 registro en captura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6"/>
          <p:cNvSpPr/>
          <p:nvPr/>
        </p:nvSpPr>
        <p:spPr>
          <a:xfrm>
            <a:off x="6574536" y="3895344"/>
            <a:ext cx="5358384" cy="1353312"/>
          </a:xfrm>
          <a:prstGeom prst="roundRect">
            <a:avLst>
              <a:gd fmla="val 8784" name="adj"/>
            </a:avLst>
          </a:prstGeom>
          <a:solidFill>
            <a:srgbClr val="FFFFFF"/>
          </a:solidFill>
          <a:ln cap="flat" cmpd="sng" w="12700">
            <a:solidFill>
              <a:srgbClr val="E5EB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SANDOVAL_BENJAMIN_CAPSTONE_FASE2_GITHUB/03_Evidencias_Proyecto/03_Evidencias_Sistema/Capturas/03_Inventario_otra_compania.png" id="486" name="Google Shape;48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6832" y="4249246"/>
            <a:ext cx="5193792" cy="645508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16"/>
          <p:cNvSpPr/>
          <p:nvPr/>
        </p:nvSpPr>
        <p:spPr>
          <a:xfrm>
            <a:off x="914400" y="5742432"/>
            <a:ext cx="10332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Se comprobó que cada compañía mantiene y muestra sus propios artículos.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6"/>
          <p:cNvSpPr/>
          <p:nvPr/>
        </p:nvSpPr>
        <p:spPr>
          <a:xfrm>
            <a:off x="11466576" y="283464"/>
            <a:ext cx="438912" cy="438912"/>
          </a:xfrm>
          <a:prstGeom prst="roundRect">
            <a:avLst>
              <a:gd fmla="val 16667" name="adj"/>
            </a:avLst>
          </a:prstGeom>
          <a:solidFill>
            <a:srgbClr val="E442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89" name="Google Shape;48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85448" y="402336"/>
            <a:ext cx="201168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7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34B46"/>
          </a:solidFill>
          <a:ln cap="flat" cmpd="sng" w="12700">
            <a:solidFill>
              <a:srgbClr val="E34B4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7"/>
          <p:cNvSpPr/>
          <p:nvPr/>
        </p:nvSpPr>
        <p:spPr>
          <a:xfrm>
            <a:off x="502920" y="228600"/>
            <a:ext cx="7315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BOMBEROS SAN BERNARDO  /  PROYECTO APT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7"/>
          <p:cNvSpPr/>
          <p:nvPr/>
        </p:nvSpPr>
        <p:spPr>
          <a:xfrm>
            <a:off x="502920" y="61264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2900"/>
              <a:buFont typeface="Arial"/>
              <a:buNone/>
            </a:pPr>
            <a:r>
              <a:rPr b="1" lang="en-US" sz="2900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Administración de compañías y usuarios</a:t>
            </a:r>
            <a:endParaRPr sz="2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8" name="Google Shape;498;p17"/>
          <p:cNvCxnSpPr/>
          <p:nvPr/>
        </p:nvCxnSpPr>
        <p:spPr>
          <a:xfrm>
            <a:off x="512064" y="1335024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9" name="Google Shape;499;p17"/>
          <p:cNvSpPr/>
          <p:nvPr/>
        </p:nvSpPr>
        <p:spPr>
          <a:xfrm>
            <a:off x="512064" y="6565392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GESTIÓN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7"/>
          <p:cNvSpPr/>
          <p:nvPr/>
        </p:nvSpPr>
        <p:spPr>
          <a:xfrm>
            <a:off x="11292840" y="6510528"/>
            <a:ext cx="32918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A697D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/>
          </a:p>
        </p:txBody>
      </p:sp>
      <p:sp>
        <p:nvSpPr>
          <p:cNvPr id="501" name="Google Shape;501;p17"/>
          <p:cNvSpPr/>
          <p:nvPr/>
        </p:nvSpPr>
        <p:spPr>
          <a:xfrm>
            <a:off x="621792" y="1700784"/>
            <a:ext cx="10963656" cy="3392424"/>
          </a:xfrm>
          <a:prstGeom prst="roundRect">
            <a:avLst>
              <a:gd fmla="val 3504" name="adj"/>
            </a:avLst>
          </a:prstGeom>
          <a:solidFill>
            <a:srgbClr val="FFFFFF"/>
          </a:solidFill>
          <a:ln cap="flat" cmpd="sng" w="12700">
            <a:solidFill>
              <a:srgbClr val="E5EB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SANDOVAL_BENJAMIN_CAPSTONE_FASE2_GITHUB/03_Evidencias_Proyecto/03_Evidencias_Sistema/Capturas/09_Administracion_usuarios.png" id="502" name="Google Shape;50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92566" y="1783080"/>
            <a:ext cx="6622108" cy="3227832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17"/>
          <p:cNvSpPr/>
          <p:nvPr/>
        </p:nvSpPr>
        <p:spPr>
          <a:xfrm>
            <a:off x="914400" y="5212080"/>
            <a:ext cx="10305288" cy="694944"/>
          </a:xfrm>
          <a:prstGeom prst="roundRect">
            <a:avLst>
              <a:gd fmla="val 18421" name="adj"/>
            </a:avLst>
          </a:prstGeom>
          <a:solidFill>
            <a:srgbClr val="14263F"/>
          </a:solidFill>
          <a:ln cap="flat" cmpd="sng" w="12700">
            <a:solidFill>
              <a:srgbClr val="1426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7"/>
          <p:cNvSpPr/>
          <p:nvPr/>
        </p:nvSpPr>
        <p:spPr>
          <a:xfrm>
            <a:off x="1746504" y="5358384"/>
            <a:ext cx="9235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Creación de usuarios, selección de roles y asignación de compañía.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7"/>
          <p:cNvSpPr/>
          <p:nvPr/>
        </p:nvSpPr>
        <p:spPr>
          <a:xfrm>
            <a:off x="11466576" y="283464"/>
            <a:ext cx="438912" cy="438912"/>
          </a:xfrm>
          <a:prstGeom prst="roundRect">
            <a:avLst>
              <a:gd fmla="val 16667" name="adj"/>
            </a:avLst>
          </a:prstGeom>
          <a:solidFill>
            <a:srgbClr val="E442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506" name="Google Shape;50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85448" y="402336"/>
            <a:ext cx="201168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8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34B46"/>
          </a:solidFill>
          <a:ln cap="flat" cmpd="sng" w="12700">
            <a:solidFill>
              <a:srgbClr val="E34B4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18"/>
          <p:cNvSpPr/>
          <p:nvPr/>
        </p:nvSpPr>
        <p:spPr>
          <a:xfrm>
            <a:off x="502920" y="228600"/>
            <a:ext cx="7315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BOMBEROS SAN BERNARDO  /  PROYECTO APT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18"/>
          <p:cNvSpPr/>
          <p:nvPr/>
        </p:nvSpPr>
        <p:spPr>
          <a:xfrm>
            <a:off x="502920" y="61264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2900"/>
              <a:buFont typeface="Arial"/>
              <a:buNone/>
            </a:pPr>
            <a:r>
              <a:rPr b="1" lang="en-US" sz="2900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Comprobaciones funcionales</a:t>
            </a:r>
            <a:endParaRPr sz="2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5" name="Google Shape;515;p18"/>
          <p:cNvCxnSpPr/>
          <p:nvPr/>
        </p:nvCxnSpPr>
        <p:spPr>
          <a:xfrm>
            <a:off x="512064" y="1335024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6" name="Google Shape;516;p18"/>
          <p:cNvSpPr/>
          <p:nvPr/>
        </p:nvSpPr>
        <p:spPr>
          <a:xfrm>
            <a:off x="512064" y="6565392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PRUEBAS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8"/>
          <p:cNvSpPr/>
          <p:nvPr/>
        </p:nvSpPr>
        <p:spPr>
          <a:xfrm>
            <a:off x="11292840" y="6510528"/>
            <a:ext cx="32918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A697D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/>
          </a:p>
        </p:txBody>
      </p:sp>
      <p:sp>
        <p:nvSpPr>
          <p:cNvPr id="518" name="Google Shape;518;p18"/>
          <p:cNvSpPr/>
          <p:nvPr/>
        </p:nvSpPr>
        <p:spPr>
          <a:xfrm>
            <a:off x="640080" y="1636776"/>
            <a:ext cx="5495544" cy="1078992"/>
          </a:xfrm>
          <a:prstGeom prst="roundRect">
            <a:avLst>
              <a:gd fmla="val 13559" name="adj"/>
            </a:avLst>
          </a:prstGeom>
          <a:solidFill>
            <a:srgbClr val="FFFFFF"/>
          </a:solidFill>
          <a:ln cap="flat" cmpd="sng" w="12700">
            <a:solidFill>
              <a:srgbClr val="E1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8"/>
          <p:cNvSpPr/>
          <p:nvPr/>
        </p:nvSpPr>
        <p:spPr>
          <a:xfrm>
            <a:off x="1426464" y="1783080"/>
            <a:ext cx="4590288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Inventario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8"/>
          <p:cNvSpPr/>
          <p:nvPr/>
        </p:nvSpPr>
        <p:spPr>
          <a:xfrm>
            <a:off x="1426464" y="2167128"/>
            <a:ext cx="45902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Alta, edición, eliminación y persistencia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18"/>
          <p:cNvSpPr/>
          <p:nvPr/>
        </p:nvSpPr>
        <p:spPr>
          <a:xfrm>
            <a:off x="6492240" y="1636776"/>
            <a:ext cx="5495544" cy="1078992"/>
          </a:xfrm>
          <a:prstGeom prst="roundRect">
            <a:avLst>
              <a:gd fmla="val 13559" name="adj"/>
            </a:avLst>
          </a:prstGeom>
          <a:solidFill>
            <a:srgbClr val="FFFFFF"/>
          </a:solidFill>
          <a:ln cap="flat" cmpd="sng" w="12700">
            <a:solidFill>
              <a:srgbClr val="E1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8"/>
          <p:cNvSpPr/>
          <p:nvPr/>
        </p:nvSpPr>
        <p:spPr>
          <a:xfrm>
            <a:off x="7278624" y="1783080"/>
            <a:ext cx="4590288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Excel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8"/>
          <p:cNvSpPr/>
          <p:nvPr/>
        </p:nvSpPr>
        <p:spPr>
          <a:xfrm>
            <a:off x="7278624" y="2167128"/>
            <a:ext cx="45902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Importación y exportación de registros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8"/>
          <p:cNvSpPr/>
          <p:nvPr/>
        </p:nvSpPr>
        <p:spPr>
          <a:xfrm>
            <a:off x="640080" y="3017520"/>
            <a:ext cx="5495544" cy="1078992"/>
          </a:xfrm>
          <a:prstGeom prst="roundRect">
            <a:avLst>
              <a:gd fmla="val 13559" name="adj"/>
            </a:avLst>
          </a:prstGeom>
          <a:solidFill>
            <a:srgbClr val="FFFFFF"/>
          </a:solidFill>
          <a:ln cap="flat" cmpd="sng" w="12700">
            <a:solidFill>
              <a:srgbClr val="E1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18"/>
          <p:cNvSpPr/>
          <p:nvPr/>
        </p:nvSpPr>
        <p:spPr>
          <a:xfrm>
            <a:off x="1426464" y="3163824"/>
            <a:ext cx="4590288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Operaciones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18"/>
          <p:cNvSpPr/>
          <p:nvPr/>
        </p:nvSpPr>
        <p:spPr>
          <a:xfrm>
            <a:off x="1426464" y="3547872"/>
            <a:ext cx="45902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Mantenimiento, gastos y checklist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18"/>
          <p:cNvSpPr/>
          <p:nvPr/>
        </p:nvSpPr>
        <p:spPr>
          <a:xfrm>
            <a:off x="6492240" y="3017520"/>
            <a:ext cx="5495544" cy="1078992"/>
          </a:xfrm>
          <a:prstGeom prst="roundRect">
            <a:avLst>
              <a:gd fmla="val 13559" name="adj"/>
            </a:avLst>
          </a:prstGeom>
          <a:solidFill>
            <a:srgbClr val="FFFFFF"/>
          </a:solidFill>
          <a:ln cap="flat" cmpd="sng" w="12700">
            <a:solidFill>
              <a:srgbClr val="E1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18"/>
          <p:cNvSpPr/>
          <p:nvPr/>
        </p:nvSpPr>
        <p:spPr>
          <a:xfrm>
            <a:off x="7278624" y="3163824"/>
            <a:ext cx="4590288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Roles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18"/>
          <p:cNvSpPr/>
          <p:nvPr/>
        </p:nvSpPr>
        <p:spPr>
          <a:xfrm>
            <a:off x="7278624" y="3547872"/>
            <a:ext cx="45902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Login como administrador, encargado y bombero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8"/>
          <p:cNvSpPr/>
          <p:nvPr/>
        </p:nvSpPr>
        <p:spPr>
          <a:xfrm>
            <a:off x="640080" y="4398264"/>
            <a:ext cx="5495544" cy="1078992"/>
          </a:xfrm>
          <a:prstGeom prst="roundRect">
            <a:avLst>
              <a:gd fmla="val 13559" name="adj"/>
            </a:avLst>
          </a:prstGeom>
          <a:solidFill>
            <a:srgbClr val="FFFFFF"/>
          </a:solidFill>
          <a:ln cap="flat" cmpd="sng" w="12700">
            <a:solidFill>
              <a:srgbClr val="E1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8"/>
          <p:cNvSpPr/>
          <p:nvPr/>
        </p:nvSpPr>
        <p:spPr>
          <a:xfrm>
            <a:off x="1426464" y="4544568"/>
            <a:ext cx="4590288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Compañías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18"/>
          <p:cNvSpPr/>
          <p:nvPr/>
        </p:nvSpPr>
        <p:spPr>
          <a:xfrm>
            <a:off x="1426464" y="4928616"/>
            <a:ext cx="45902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Registros separados en la interfaz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18"/>
          <p:cNvSpPr/>
          <p:nvPr/>
        </p:nvSpPr>
        <p:spPr>
          <a:xfrm>
            <a:off x="6492240" y="4398264"/>
            <a:ext cx="5495544" cy="1078992"/>
          </a:xfrm>
          <a:prstGeom prst="roundRect">
            <a:avLst>
              <a:gd fmla="val 13559" name="adj"/>
            </a:avLst>
          </a:prstGeom>
          <a:solidFill>
            <a:srgbClr val="FFFFFF"/>
          </a:solidFill>
          <a:ln cap="flat" cmpd="sng" w="12700">
            <a:solidFill>
              <a:srgbClr val="E1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18"/>
          <p:cNvSpPr/>
          <p:nvPr/>
        </p:nvSpPr>
        <p:spPr>
          <a:xfrm>
            <a:off x="7278624" y="4544568"/>
            <a:ext cx="4590288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Valor económico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18"/>
          <p:cNvSpPr/>
          <p:nvPr/>
        </p:nvSpPr>
        <p:spPr>
          <a:xfrm>
            <a:off x="7278624" y="4928616"/>
            <a:ext cx="45902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Precio unitario y pérdida con descuento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18"/>
          <p:cNvSpPr/>
          <p:nvPr/>
        </p:nvSpPr>
        <p:spPr>
          <a:xfrm>
            <a:off x="822960" y="5916168"/>
            <a:ext cx="106984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Comprobaciones locales y manuales; no sustituyen auditoría de seguridad o aprobación institucional.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8"/>
          <p:cNvSpPr/>
          <p:nvPr/>
        </p:nvSpPr>
        <p:spPr>
          <a:xfrm>
            <a:off x="11466576" y="283464"/>
            <a:ext cx="438912" cy="438912"/>
          </a:xfrm>
          <a:prstGeom prst="roundRect">
            <a:avLst>
              <a:gd fmla="val 16667" name="adj"/>
            </a:avLst>
          </a:prstGeom>
          <a:solidFill>
            <a:srgbClr val="E442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538" name="Google Shape;53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85448" y="402336"/>
            <a:ext cx="201168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9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34B46"/>
          </a:solidFill>
          <a:ln cap="flat" cmpd="sng" w="12700">
            <a:solidFill>
              <a:srgbClr val="E34B4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9"/>
          <p:cNvSpPr/>
          <p:nvPr/>
        </p:nvSpPr>
        <p:spPr>
          <a:xfrm>
            <a:off x="502920" y="228600"/>
            <a:ext cx="7315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BOMBEROS SAN BERNARDO  /  PROYECTO APT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19"/>
          <p:cNvSpPr/>
          <p:nvPr/>
        </p:nvSpPr>
        <p:spPr>
          <a:xfrm>
            <a:off x="502920" y="61264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2900"/>
              <a:buFont typeface="Arial"/>
              <a:buNone/>
            </a:pPr>
            <a:r>
              <a:rPr b="1" lang="en-US" sz="2900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Resultados del prototipo</a:t>
            </a:r>
            <a:endParaRPr sz="2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7" name="Google Shape;547;p19"/>
          <p:cNvCxnSpPr/>
          <p:nvPr/>
        </p:nvCxnSpPr>
        <p:spPr>
          <a:xfrm>
            <a:off x="512064" y="1335024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8" name="Google Shape;548;p19"/>
          <p:cNvSpPr/>
          <p:nvPr/>
        </p:nvSpPr>
        <p:spPr>
          <a:xfrm>
            <a:off x="512064" y="6565392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19"/>
          <p:cNvSpPr/>
          <p:nvPr/>
        </p:nvSpPr>
        <p:spPr>
          <a:xfrm>
            <a:off x="11292840" y="6510528"/>
            <a:ext cx="32918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A697D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/>
          </a:p>
        </p:txBody>
      </p:sp>
      <p:sp>
        <p:nvSpPr>
          <p:cNvPr id="550" name="Google Shape;550;p19"/>
          <p:cNvSpPr/>
          <p:nvPr/>
        </p:nvSpPr>
        <p:spPr>
          <a:xfrm>
            <a:off x="393192" y="1828800"/>
            <a:ext cx="2185416" cy="2487168"/>
          </a:xfrm>
          <a:prstGeom prst="roundRect">
            <a:avLst>
              <a:gd fmla="val 7113" name="adj"/>
            </a:avLst>
          </a:prstGeom>
          <a:solidFill>
            <a:srgbClr val="FFFFFF"/>
          </a:solidFill>
          <a:ln cap="flat" cmpd="sng" w="12700">
            <a:solidFill>
              <a:srgbClr val="E1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19"/>
          <p:cNvSpPr/>
          <p:nvPr/>
        </p:nvSpPr>
        <p:spPr>
          <a:xfrm>
            <a:off x="502920" y="2843784"/>
            <a:ext cx="1956816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3500"/>
              <a:buFont typeface="Arial"/>
              <a:buNone/>
            </a:pPr>
            <a:r>
              <a:rPr b="1" lang="en-US" sz="3500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230</a:t>
            </a:r>
            <a:endParaRPr sz="3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19"/>
          <p:cNvSpPr/>
          <p:nvPr/>
        </p:nvSpPr>
        <p:spPr>
          <a:xfrm>
            <a:off x="475488" y="3675888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registros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19"/>
          <p:cNvSpPr/>
          <p:nvPr/>
        </p:nvSpPr>
        <p:spPr>
          <a:xfrm>
            <a:off x="2779776" y="1828800"/>
            <a:ext cx="2185416" cy="2487168"/>
          </a:xfrm>
          <a:prstGeom prst="roundRect">
            <a:avLst>
              <a:gd fmla="val 7113" name="adj"/>
            </a:avLst>
          </a:prstGeom>
          <a:solidFill>
            <a:srgbClr val="FFFFFF"/>
          </a:solidFill>
          <a:ln cap="flat" cmpd="sng" w="12700">
            <a:solidFill>
              <a:srgbClr val="E1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19"/>
          <p:cNvSpPr/>
          <p:nvPr/>
        </p:nvSpPr>
        <p:spPr>
          <a:xfrm>
            <a:off x="2889504" y="2843784"/>
            <a:ext cx="1956816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3500"/>
              <a:buFont typeface="Arial"/>
              <a:buNone/>
            </a:pPr>
            <a:r>
              <a:rPr b="1" lang="en-US" sz="3500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503</a:t>
            </a:r>
            <a:endParaRPr sz="3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19"/>
          <p:cNvSpPr/>
          <p:nvPr/>
        </p:nvSpPr>
        <p:spPr>
          <a:xfrm>
            <a:off x="2862072" y="3675888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unidades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19"/>
          <p:cNvSpPr/>
          <p:nvPr/>
        </p:nvSpPr>
        <p:spPr>
          <a:xfrm>
            <a:off x="5166360" y="1828800"/>
            <a:ext cx="2185416" cy="2487168"/>
          </a:xfrm>
          <a:prstGeom prst="roundRect">
            <a:avLst>
              <a:gd fmla="val 7113" name="adj"/>
            </a:avLst>
          </a:prstGeom>
          <a:solidFill>
            <a:srgbClr val="FFFFFF"/>
          </a:solidFill>
          <a:ln cap="flat" cmpd="sng" w="12700">
            <a:solidFill>
              <a:srgbClr val="E1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19"/>
          <p:cNvSpPr/>
          <p:nvPr/>
        </p:nvSpPr>
        <p:spPr>
          <a:xfrm>
            <a:off x="5276088" y="2843784"/>
            <a:ext cx="1956816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3500"/>
              <a:buFont typeface="Arial"/>
              <a:buNone/>
            </a:pPr>
            <a:r>
              <a:rPr b="1" lang="en-US" sz="3500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3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19"/>
          <p:cNvSpPr/>
          <p:nvPr/>
        </p:nvSpPr>
        <p:spPr>
          <a:xfrm>
            <a:off x="5248656" y="3675888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carros / bodegas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19"/>
          <p:cNvSpPr/>
          <p:nvPr/>
        </p:nvSpPr>
        <p:spPr>
          <a:xfrm>
            <a:off x="7552944" y="1828800"/>
            <a:ext cx="2185416" cy="2487168"/>
          </a:xfrm>
          <a:prstGeom prst="roundRect">
            <a:avLst>
              <a:gd fmla="val 7113" name="adj"/>
            </a:avLst>
          </a:prstGeom>
          <a:solidFill>
            <a:srgbClr val="FFFFFF"/>
          </a:solidFill>
          <a:ln cap="flat" cmpd="sng" w="12700">
            <a:solidFill>
              <a:srgbClr val="E1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19"/>
          <p:cNvSpPr/>
          <p:nvPr/>
        </p:nvSpPr>
        <p:spPr>
          <a:xfrm>
            <a:off x="7662672" y="2843784"/>
            <a:ext cx="1956816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3500"/>
              <a:buFont typeface="Arial"/>
              <a:buNone/>
            </a:pPr>
            <a:r>
              <a:rPr b="1" lang="en-US" sz="3500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3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19"/>
          <p:cNvSpPr/>
          <p:nvPr/>
        </p:nvSpPr>
        <p:spPr>
          <a:xfrm>
            <a:off x="7635240" y="3675888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alertas críticas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19"/>
          <p:cNvSpPr/>
          <p:nvPr/>
        </p:nvSpPr>
        <p:spPr>
          <a:xfrm>
            <a:off x="9939528" y="1828800"/>
            <a:ext cx="2185416" cy="2487168"/>
          </a:xfrm>
          <a:prstGeom prst="roundRect">
            <a:avLst>
              <a:gd fmla="val 7113" name="adj"/>
            </a:avLst>
          </a:prstGeom>
          <a:solidFill>
            <a:srgbClr val="FFFFFF"/>
          </a:solidFill>
          <a:ln cap="flat" cmpd="sng" w="12700">
            <a:solidFill>
              <a:srgbClr val="E1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19"/>
          <p:cNvSpPr/>
          <p:nvPr/>
        </p:nvSpPr>
        <p:spPr>
          <a:xfrm>
            <a:off x="10049256" y="2843784"/>
            <a:ext cx="1956816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3500"/>
              <a:buFont typeface="Arial"/>
              <a:buNone/>
            </a:pPr>
            <a:r>
              <a:rPr b="1" lang="en-US" sz="3500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36</a:t>
            </a:r>
            <a:endParaRPr sz="3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19"/>
          <p:cNvSpPr/>
          <p:nvPr/>
        </p:nvSpPr>
        <p:spPr>
          <a:xfrm>
            <a:off x="10021824" y="3675888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por revisar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19"/>
          <p:cNvSpPr/>
          <p:nvPr/>
        </p:nvSpPr>
        <p:spPr>
          <a:xfrm>
            <a:off x="1060704" y="4736592"/>
            <a:ext cx="10021824" cy="1078992"/>
          </a:xfrm>
          <a:prstGeom prst="roundRect">
            <a:avLst>
              <a:gd fmla="val 13559" name="adj"/>
            </a:avLst>
          </a:prstGeom>
          <a:solidFill>
            <a:srgbClr val="14263F"/>
          </a:solidFill>
          <a:ln cap="flat" cmpd="sng" w="12700">
            <a:solidFill>
              <a:srgbClr val="1426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19"/>
          <p:cNvSpPr/>
          <p:nvPr/>
        </p:nvSpPr>
        <p:spPr>
          <a:xfrm>
            <a:off x="1453896" y="4956048"/>
            <a:ext cx="917143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Sistema funcional localmente con separación por compañía y almacenamiento persistente.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19"/>
          <p:cNvSpPr/>
          <p:nvPr/>
        </p:nvSpPr>
        <p:spPr>
          <a:xfrm>
            <a:off x="11466576" y="283464"/>
            <a:ext cx="438912" cy="438912"/>
          </a:xfrm>
          <a:prstGeom prst="roundRect">
            <a:avLst>
              <a:gd fmla="val 16667" name="adj"/>
            </a:avLst>
          </a:prstGeom>
          <a:solidFill>
            <a:srgbClr val="E442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568" name="Google Shape;56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85448" y="402336"/>
            <a:ext cx="201168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2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34B46"/>
          </a:solidFill>
          <a:ln cap="flat" cmpd="sng" w="12700">
            <a:solidFill>
              <a:srgbClr val="E34B4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20"/>
          <p:cNvSpPr/>
          <p:nvPr/>
        </p:nvSpPr>
        <p:spPr>
          <a:xfrm>
            <a:off x="502920" y="228600"/>
            <a:ext cx="7315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BOMBEROS SAN BERNARDO  /  PROYECTO APT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20"/>
          <p:cNvSpPr/>
          <p:nvPr/>
        </p:nvSpPr>
        <p:spPr>
          <a:xfrm>
            <a:off x="502920" y="61264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2900"/>
              <a:buFont typeface="Arial"/>
              <a:buNone/>
            </a:pPr>
            <a:r>
              <a:rPr b="1" lang="en-US" sz="2900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Límites y próximos pasos</a:t>
            </a:r>
            <a:endParaRPr sz="2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7" name="Google Shape;577;p20"/>
          <p:cNvCxnSpPr/>
          <p:nvPr/>
        </p:nvCxnSpPr>
        <p:spPr>
          <a:xfrm>
            <a:off x="512064" y="1335024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8" name="Google Shape;578;p20"/>
          <p:cNvSpPr/>
          <p:nvPr/>
        </p:nvSpPr>
        <p:spPr>
          <a:xfrm>
            <a:off x="512064" y="6565392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EVALUACIÓN CRÍTICA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20"/>
          <p:cNvSpPr/>
          <p:nvPr/>
        </p:nvSpPr>
        <p:spPr>
          <a:xfrm>
            <a:off x="11292840" y="6510528"/>
            <a:ext cx="32918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A697D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580" name="Google Shape;580;p20"/>
          <p:cNvSpPr/>
          <p:nvPr/>
        </p:nvSpPr>
        <p:spPr>
          <a:xfrm>
            <a:off x="594360" y="1719072"/>
            <a:ext cx="5513832" cy="1792224"/>
          </a:xfrm>
          <a:prstGeom prst="roundRect">
            <a:avLst>
              <a:gd fmla="val 10204" name="adj"/>
            </a:avLst>
          </a:prstGeom>
          <a:solidFill>
            <a:srgbClr val="FFFFFF"/>
          </a:solidFill>
          <a:ln cap="flat" cmpd="sng" w="12700">
            <a:solidFill>
              <a:srgbClr val="E1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20"/>
          <p:cNvSpPr/>
          <p:nvPr/>
        </p:nvSpPr>
        <p:spPr>
          <a:xfrm>
            <a:off x="777240" y="1901952"/>
            <a:ext cx="566928" cy="566928"/>
          </a:xfrm>
          <a:prstGeom prst="roundRect">
            <a:avLst>
              <a:gd fmla="val 20968" name="adj"/>
            </a:avLst>
          </a:prstGeom>
          <a:solidFill>
            <a:srgbClr val="E34B46"/>
          </a:solidFill>
          <a:ln cap="flat" cmpd="sng" w="12700">
            <a:solidFill>
              <a:srgbClr val="E34B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20"/>
          <p:cNvSpPr/>
          <p:nvPr/>
        </p:nvSpPr>
        <p:spPr>
          <a:xfrm>
            <a:off x="1490472" y="1947672"/>
            <a:ext cx="4343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Validación con Bomberos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20"/>
          <p:cNvSpPr/>
          <p:nvPr/>
        </p:nvSpPr>
        <p:spPr>
          <a:xfrm>
            <a:off x="1490472" y="2514600"/>
            <a:ext cx="437083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Aún no existe aprobación institucional documentada.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20"/>
          <p:cNvSpPr/>
          <p:nvPr/>
        </p:nvSpPr>
        <p:spPr>
          <a:xfrm>
            <a:off x="6428232" y="1719072"/>
            <a:ext cx="5513832" cy="1792224"/>
          </a:xfrm>
          <a:prstGeom prst="roundRect">
            <a:avLst>
              <a:gd fmla="val 10204" name="adj"/>
            </a:avLst>
          </a:prstGeom>
          <a:solidFill>
            <a:srgbClr val="FFFFFF"/>
          </a:solidFill>
          <a:ln cap="flat" cmpd="sng" w="12700">
            <a:solidFill>
              <a:srgbClr val="E1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20"/>
          <p:cNvSpPr/>
          <p:nvPr/>
        </p:nvSpPr>
        <p:spPr>
          <a:xfrm>
            <a:off x="6611112" y="1901952"/>
            <a:ext cx="566928" cy="566928"/>
          </a:xfrm>
          <a:prstGeom prst="roundRect">
            <a:avLst>
              <a:gd fmla="val 20968" name="adj"/>
            </a:avLst>
          </a:prstGeom>
          <a:solidFill>
            <a:srgbClr val="F4A340"/>
          </a:solidFill>
          <a:ln cap="flat" cmpd="sng" w="12700">
            <a:solidFill>
              <a:srgbClr val="F4A3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20"/>
          <p:cNvSpPr/>
          <p:nvPr/>
        </p:nvSpPr>
        <p:spPr>
          <a:xfrm>
            <a:off x="7324344" y="1947672"/>
            <a:ext cx="4343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Despliegue para varios equipos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20"/>
          <p:cNvSpPr/>
          <p:nvPr/>
        </p:nvSpPr>
        <p:spPr>
          <a:xfrm>
            <a:off x="7324344" y="2514600"/>
            <a:ext cx="437083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Por configurar un servidor central y acceso seguro.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20"/>
          <p:cNvSpPr/>
          <p:nvPr/>
        </p:nvSpPr>
        <p:spPr>
          <a:xfrm>
            <a:off x="594360" y="3758184"/>
            <a:ext cx="5513832" cy="1792224"/>
          </a:xfrm>
          <a:prstGeom prst="roundRect">
            <a:avLst>
              <a:gd fmla="val 10204" name="adj"/>
            </a:avLst>
          </a:prstGeom>
          <a:solidFill>
            <a:srgbClr val="FFFFFF"/>
          </a:solidFill>
          <a:ln cap="flat" cmpd="sng" w="12700">
            <a:solidFill>
              <a:srgbClr val="E1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20"/>
          <p:cNvSpPr/>
          <p:nvPr/>
        </p:nvSpPr>
        <p:spPr>
          <a:xfrm>
            <a:off x="777240" y="3941064"/>
            <a:ext cx="566928" cy="566928"/>
          </a:xfrm>
          <a:prstGeom prst="roundRect">
            <a:avLst>
              <a:gd fmla="val 20968" name="adj"/>
            </a:avLst>
          </a:prstGeom>
          <a:solidFill>
            <a:srgbClr val="25A7A1"/>
          </a:solidFill>
          <a:ln cap="flat" cmpd="sng" w="12700">
            <a:solidFill>
              <a:srgbClr val="25A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20"/>
          <p:cNvSpPr/>
          <p:nvPr/>
        </p:nvSpPr>
        <p:spPr>
          <a:xfrm>
            <a:off x="1490472" y="3986784"/>
            <a:ext cx="4343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Completar datos económicos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20"/>
          <p:cNvSpPr/>
          <p:nvPr/>
        </p:nvSpPr>
        <p:spPr>
          <a:xfrm>
            <a:off x="1490472" y="4553712"/>
            <a:ext cx="437083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La mayoría de los artículos aún no tiene precio real.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20"/>
          <p:cNvSpPr/>
          <p:nvPr/>
        </p:nvSpPr>
        <p:spPr>
          <a:xfrm>
            <a:off x="6428232" y="3758184"/>
            <a:ext cx="5513832" cy="1792224"/>
          </a:xfrm>
          <a:prstGeom prst="roundRect">
            <a:avLst>
              <a:gd fmla="val 10204" name="adj"/>
            </a:avLst>
          </a:prstGeom>
          <a:solidFill>
            <a:srgbClr val="FFFFFF"/>
          </a:solidFill>
          <a:ln cap="flat" cmpd="sng" w="12700">
            <a:solidFill>
              <a:srgbClr val="E1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20"/>
          <p:cNvSpPr/>
          <p:nvPr/>
        </p:nvSpPr>
        <p:spPr>
          <a:xfrm>
            <a:off x="6611112" y="3941064"/>
            <a:ext cx="566928" cy="566928"/>
          </a:xfrm>
          <a:prstGeom prst="roundRect">
            <a:avLst>
              <a:gd fmla="val 20968" name="adj"/>
            </a:avLst>
          </a:prstGeom>
          <a:solidFill>
            <a:srgbClr val="5A8BDC"/>
          </a:solidFill>
          <a:ln cap="flat" cmpd="sng" w="12700">
            <a:solidFill>
              <a:srgbClr val="5A8B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20"/>
          <p:cNvSpPr/>
          <p:nvPr/>
        </p:nvSpPr>
        <p:spPr>
          <a:xfrm>
            <a:off x="7324344" y="3986784"/>
            <a:ext cx="4343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Auditoría y más pruebas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20"/>
          <p:cNvSpPr/>
          <p:nvPr/>
        </p:nvSpPr>
        <p:spPr>
          <a:xfrm>
            <a:off x="7324344" y="4553712"/>
            <a:ext cx="437083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Pendiente revisión formal de seguridad y permisos.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20"/>
          <p:cNvSpPr/>
          <p:nvPr/>
        </p:nvSpPr>
        <p:spPr>
          <a:xfrm>
            <a:off x="11466576" y="283464"/>
            <a:ext cx="438912" cy="438912"/>
          </a:xfrm>
          <a:prstGeom prst="roundRect">
            <a:avLst>
              <a:gd fmla="val 16667" name="adj"/>
            </a:avLst>
          </a:prstGeom>
          <a:solidFill>
            <a:srgbClr val="E442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597" name="Google Shape;59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85448" y="402336"/>
            <a:ext cx="201168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2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34B46"/>
          </a:solidFill>
          <a:ln cap="flat" cmpd="sng" w="12700">
            <a:solidFill>
              <a:srgbClr val="E34B4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21"/>
          <p:cNvSpPr/>
          <p:nvPr/>
        </p:nvSpPr>
        <p:spPr>
          <a:xfrm>
            <a:off x="502920" y="228600"/>
            <a:ext cx="7315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BOMBEROS SAN BERNARDO  /  PROYECTO APT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21"/>
          <p:cNvSpPr/>
          <p:nvPr/>
        </p:nvSpPr>
        <p:spPr>
          <a:xfrm>
            <a:off x="502920" y="61264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2900"/>
              <a:buFont typeface="Arial"/>
              <a:buNone/>
            </a:pPr>
            <a:r>
              <a:rPr b="1" lang="en-US" sz="2900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Conclusión del proyecto</a:t>
            </a:r>
            <a:endParaRPr sz="2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6" name="Google Shape;606;p21"/>
          <p:cNvCxnSpPr/>
          <p:nvPr/>
        </p:nvCxnSpPr>
        <p:spPr>
          <a:xfrm>
            <a:off x="512064" y="1335024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7" name="Google Shape;607;p21"/>
          <p:cNvSpPr/>
          <p:nvPr/>
        </p:nvSpPr>
        <p:spPr>
          <a:xfrm>
            <a:off x="512064" y="6565392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58B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64758B"/>
                </a:solidFill>
                <a:latin typeface="Arial"/>
                <a:ea typeface="Arial"/>
                <a:cs typeface="Arial"/>
                <a:sym typeface="Arial"/>
              </a:rPr>
              <a:t>CIERRE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21"/>
          <p:cNvSpPr/>
          <p:nvPr/>
        </p:nvSpPr>
        <p:spPr>
          <a:xfrm>
            <a:off x="11292840" y="6510528"/>
            <a:ext cx="32918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A697D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/>
          </a:p>
        </p:txBody>
      </p:sp>
      <p:sp>
        <p:nvSpPr>
          <p:cNvPr id="609" name="Google Shape;609;p21"/>
          <p:cNvSpPr/>
          <p:nvPr/>
        </p:nvSpPr>
        <p:spPr>
          <a:xfrm>
            <a:off x="704088" y="1645920"/>
            <a:ext cx="10799064" cy="2450592"/>
          </a:xfrm>
          <a:prstGeom prst="roundRect">
            <a:avLst>
              <a:gd fmla="val 7836" name="adj"/>
            </a:avLst>
          </a:prstGeom>
          <a:solidFill>
            <a:srgbClr val="14263F"/>
          </a:solidFill>
          <a:ln cap="flat" cmpd="sng" w="12700">
            <a:solidFill>
              <a:srgbClr val="1426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21"/>
          <p:cNvSpPr/>
          <p:nvPr/>
        </p:nvSpPr>
        <p:spPr>
          <a:xfrm>
            <a:off x="1984248" y="1929384"/>
            <a:ext cx="8951976" cy="11064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 sistema permite centralizar el inventario y documentar el mantenimiento y el control operativo.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21"/>
          <p:cNvSpPr/>
          <p:nvPr/>
        </p:nvSpPr>
        <p:spPr>
          <a:xfrm>
            <a:off x="1993392" y="3236976"/>
            <a:ext cx="88696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0EC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D4E0EC"/>
                </a:solidFill>
                <a:latin typeface="Arial"/>
                <a:ea typeface="Arial"/>
                <a:cs typeface="Arial"/>
                <a:sym typeface="Arial"/>
              </a:rPr>
              <a:t>La arquitectura quedó preparada para agregar compañías con inventarios independientes.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21"/>
          <p:cNvSpPr/>
          <p:nvPr/>
        </p:nvSpPr>
        <p:spPr>
          <a:xfrm>
            <a:off x="1097280" y="4608576"/>
            <a:ext cx="9966960" cy="1069848"/>
          </a:xfrm>
          <a:prstGeom prst="roundRect">
            <a:avLst>
              <a:gd fmla="val 14530" name="adj"/>
            </a:avLst>
          </a:prstGeom>
          <a:solidFill>
            <a:srgbClr val="FFFFFF"/>
          </a:solidFill>
          <a:ln cap="flat" cmpd="sng" w="12700">
            <a:solidFill>
              <a:srgbClr val="E1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21"/>
          <p:cNvSpPr/>
          <p:nvPr/>
        </p:nvSpPr>
        <p:spPr>
          <a:xfrm>
            <a:off x="2029968" y="4773168"/>
            <a:ext cx="8595360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94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82940"/>
                </a:solidFill>
                <a:latin typeface="Arial"/>
                <a:ea typeface="Arial"/>
                <a:cs typeface="Arial"/>
                <a:sym typeface="Arial"/>
              </a:rPr>
              <a:t>Aprendizaje: desarrollo web, persistencia de datos, pruebas y control de acceso.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21"/>
          <p:cNvSpPr/>
          <p:nvPr/>
        </p:nvSpPr>
        <p:spPr>
          <a:xfrm>
            <a:off x="11466576" y="283464"/>
            <a:ext cx="438912" cy="438912"/>
          </a:xfrm>
          <a:prstGeom prst="roundRect">
            <a:avLst>
              <a:gd fmla="val 16667" name="adj"/>
            </a:avLst>
          </a:prstGeom>
          <a:solidFill>
            <a:srgbClr val="E442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615" name="Google Shape;61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85448" y="402336"/>
            <a:ext cx="201168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263F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5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2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442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22"/>
          <p:cNvSpPr/>
          <p:nvPr/>
        </p:nvSpPr>
        <p:spPr>
          <a:xfrm>
            <a:off x="5413248" y="1024128"/>
            <a:ext cx="1170432" cy="1170432"/>
          </a:xfrm>
          <a:prstGeom prst="roundRect">
            <a:avLst>
              <a:gd fmla="val 16667" name="adj"/>
            </a:avLst>
          </a:prstGeom>
          <a:solidFill>
            <a:srgbClr val="E442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624" name="Google Shape;6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0720" y="1371600"/>
            <a:ext cx="484632" cy="484632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22"/>
          <p:cNvSpPr txBox="1"/>
          <p:nvPr/>
        </p:nvSpPr>
        <p:spPr>
          <a:xfrm>
            <a:off x="2011680" y="2423160"/>
            <a:ext cx="816559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¡Muchas gracias!</a:t>
            </a:r>
            <a:endParaRPr/>
          </a:p>
        </p:txBody>
      </p:sp>
      <p:sp>
        <p:nvSpPr>
          <p:cNvPr id="626" name="Google Shape;626;p22"/>
          <p:cNvSpPr txBox="1"/>
          <p:nvPr/>
        </p:nvSpPr>
        <p:spPr>
          <a:xfrm>
            <a:off x="2240280" y="3474720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DEE7F1"/>
                </a:solidFill>
                <a:latin typeface="Arial"/>
                <a:ea typeface="Arial"/>
                <a:cs typeface="Arial"/>
                <a:sym typeface="Arial"/>
              </a:rPr>
              <a:t>Sistema de Gestión de Inventario y Mantenimiento</a:t>
            </a:r>
            <a:endParaRPr/>
          </a:p>
        </p:txBody>
      </p:sp>
      <p:sp>
        <p:nvSpPr>
          <p:cNvPr id="627" name="Google Shape;627;p22"/>
          <p:cNvSpPr txBox="1"/>
          <p:nvPr/>
        </p:nvSpPr>
        <p:spPr>
          <a:xfrm>
            <a:off x="2743200" y="4828032"/>
            <a:ext cx="67665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Benjamín Sandoval Robles  ·  Duoc UC</a:t>
            </a:r>
            <a:endParaRPr/>
          </a:p>
        </p:txBody>
      </p:sp>
      <p:sp>
        <p:nvSpPr>
          <p:cNvPr id="628" name="Google Shape;628;p22"/>
          <p:cNvSpPr/>
          <p:nvPr/>
        </p:nvSpPr>
        <p:spPr>
          <a:xfrm>
            <a:off x="4160520" y="5806440"/>
            <a:ext cx="3913632" cy="64008"/>
          </a:xfrm>
          <a:prstGeom prst="rect">
            <a:avLst/>
          </a:prstGeom>
          <a:solidFill>
            <a:srgbClr val="F58B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2026-10-15T05:09:32Z</dcterms:created>
  <dc:creator>Benjamín Sandoval Robles</dc:creator>
</cp:coreProperties>
</file>